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70" r:id="rId7"/>
    <p:sldId id="276" r:id="rId8"/>
    <p:sldId id="275" r:id="rId9"/>
    <p:sldId id="269" r:id="rId10"/>
    <p:sldId id="259" r:id="rId11"/>
    <p:sldId id="277" r:id="rId12"/>
    <p:sldId id="261" r:id="rId13"/>
    <p:sldId id="262" r:id="rId14"/>
    <p:sldId id="279" r:id="rId15"/>
    <p:sldId id="263" r:id="rId16"/>
    <p:sldId id="272" r:id="rId17"/>
    <p:sldId id="271" r:id="rId18"/>
    <p:sldId id="280" r:id="rId19"/>
    <p:sldId id="273" r:id="rId20"/>
    <p:sldId id="278" r:id="rId21"/>
    <p:sldId id="274" r:id="rId22"/>
    <p:sldId id="266" r:id="rId23"/>
  </p:sldIdLst>
  <p:sldSz cx="9144000" cy="5143500"/>
  <p:notesSz cx="6858000" cy="9144000"/>
  <p:embeddedFontLst>
    <p:embeddedFont>
      <p:font typeface="Manrope SemiBold"/>
      <p:bold r:id="rId27"/>
    </p:embeddedFont>
    <p:embeddedFont>
      <p:font typeface="Manrope"/>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 name="Shape 58"/>
        <p:cNvGrpSpPr/>
        <p:nvPr/>
      </p:nvGrpSpPr>
      <p:grpSpPr>
        <a:xfrm>
          <a:off x="0" y="0"/>
          <a:ext cx="0" cy="0"/>
          <a:chOff x="0" y="0"/>
          <a:chExt cx="0" cy="0"/>
        </a:xfrm>
      </p:grpSpPr>
      <p:sp>
        <p:nvSpPr>
          <p:cNvPr id="59" name="Google Shape;59;g3b6c7e62156_0_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6c7e62156_0_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64"/>
        <p:cNvGrpSpPr/>
        <p:nvPr/>
      </p:nvGrpSpPr>
      <p:grpSpPr>
        <a:xfrm>
          <a:off x="0" y="0"/>
          <a:ext cx="0" cy="0"/>
          <a:chOff x="0" y="0"/>
          <a:chExt cx="0" cy="0"/>
        </a:xfrm>
      </p:grpSpPr>
      <p:sp>
        <p:nvSpPr>
          <p:cNvPr id="65" name="Google Shape;65;g3b6c7e62156_0_1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64"/>
        <p:cNvGrpSpPr/>
        <p:nvPr/>
      </p:nvGrpSpPr>
      <p:grpSpPr>
        <a:xfrm>
          <a:off x="0" y="0"/>
          <a:ext cx="0" cy="0"/>
          <a:chOff x="0" y="0"/>
          <a:chExt cx="0" cy="0"/>
        </a:xfrm>
      </p:grpSpPr>
      <p:sp>
        <p:nvSpPr>
          <p:cNvPr id="65" name="Google Shape;65;g3b6c7e62156_0_1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64"/>
        <p:cNvGrpSpPr/>
        <p:nvPr/>
      </p:nvGrpSpPr>
      <p:grpSpPr>
        <a:xfrm>
          <a:off x="0" y="0"/>
          <a:ext cx="0" cy="0"/>
          <a:chOff x="0" y="0"/>
          <a:chExt cx="0" cy="0"/>
        </a:xfrm>
      </p:grpSpPr>
      <p:sp>
        <p:nvSpPr>
          <p:cNvPr id="65" name="Google Shape;65;g3b6c7e62156_0_1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64"/>
        <p:cNvGrpSpPr/>
        <p:nvPr/>
      </p:nvGrpSpPr>
      <p:grpSpPr>
        <a:xfrm>
          <a:off x="0" y="0"/>
          <a:ext cx="0" cy="0"/>
          <a:chOff x="0" y="0"/>
          <a:chExt cx="0" cy="0"/>
        </a:xfrm>
      </p:grpSpPr>
      <p:sp>
        <p:nvSpPr>
          <p:cNvPr id="65" name="Google Shape;65;g3b6c7e62156_0_1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64"/>
        <p:cNvGrpSpPr/>
        <p:nvPr/>
      </p:nvGrpSpPr>
      <p:grpSpPr>
        <a:xfrm>
          <a:off x="0" y="0"/>
          <a:ext cx="0" cy="0"/>
          <a:chOff x="0" y="0"/>
          <a:chExt cx="0" cy="0"/>
        </a:xfrm>
      </p:grpSpPr>
      <p:sp>
        <p:nvSpPr>
          <p:cNvPr id="65" name="Google Shape;65;g3b6c7e62156_0_1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 name="Shape 70"/>
        <p:cNvGrpSpPr/>
        <p:nvPr/>
      </p:nvGrpSpPr>
      <p:grpSpPr>
        <a:xfrm>
          <a:off x="0" y="0"/>
          <a:ext cx="0" cy="0"/>
          <a:chOff x="0" y="0"/>
          <a:chExt cx="0" cy="0"/>
        </a:xfrm>
      </p:grpSpPr>
      <p:sp>
        <p:nvSpPr>
          <p:cNvPr id="71" name="Google Shape;71;g3b6c7e62156_0_1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b6c7e62156_0_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 name="Shape 70"/>
        <p:cNvGrpSpPr/>
        <p:nvPr/>
      </p:nvGrpSpPr>
      <p:grpSpPr>
        <a:xfrm>
          <a:off x="0" y="0"/>
          <a:ext cx="0" cy="0"/>
          <a:chOff x="0" y="0"/>
          <a:chExt cx="0" cy="0"/>
        </a:xfrm>
      </p:grpSpPr>
      <p:sp>
        <p:nvSpPr>
          <p:cNvPr id="71" name="Google Shape;71;g3b6c7e62156_0_1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b6c7e62156_0_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 name="Shape 82"/>
        <p:cNvGrpSpPr/>
        <p:nvPr/>
      </p:nvGrpSpPr>
      <p:grpSpPr>
        <a:xfrm>
          <a:off x="0" y="0"/>
          <a:ext cx="0" cy="0"/>
          <a:chOff x="0" y="0"/>
          <a:chExt cx="0" cy="0"/>
        </a:xfrm>
      </p:grpSpPr>
      <p:sp>
        <p:nvSpPr>
          <p:cNvPr id="83" name="Google Shape;83;g3b6c7e62156_0_2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b6c7e62156_0_2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g3b6c7e62156_0_3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b6c7e62156_0_3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g3b6c7e62156_0_3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b6c7e62156_0_3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 name="Shape 94"/>
        <p:cNvGrpSpPr/>
        <p:nvPr/>
      </p:nvGrpSpPr>
      <p:grpSpPr>
        <a:xfrm>
          <a:off x="0" y="0"/>
          <a:ext cx="0" cy="0"/>
          <a:chOff x="0" y="0"/>
          <a:chExt cx="0" cy="0"/>
        </a:xfrm>
      </p:grpSpPr>
      <p:sp>
        <p:nvSpPr>
          <p:cNvPr id="95" name="Google Shape;95;g3b6c7e62156_0_3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b6c7e62156_0_3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 name="Shape 94"/>
        <p:cNvGrpSpPr/>
        <p:nvPr/>
      </p:nvGrpSpPr>
      <p:grpSpPr>
        <a:xfrm>
          <a:off x="0" y="0"/>
          <a:ext cx="0" cy="0"/>
          <a:chOff x="0" y="0"/>
          <a:chExt cx="0" cy="0"/>
        </a:xfrm>
      </p:grpSpPr>
      <p:sp>
        <p:nvSpPr>
          <p:cNvPr id="95" name="Google Shape;95;g3b6c7e62156_0_3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b6c7e62156_0_3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 name="Shape 94"/>
        <p:cNvGrpSpPr/>
        <p:nvPr/>
      </p:nvGrpSpPr>
      <p:grpSpPr>
        <a:xfrm>
          <a:off x="0" y="0"/>
          <a:ext cx="0" cy="0"/>
          <a:chOff x="0" y="0"/>
          <a:chExt cx="0" cy="0"/>
        </a:xfrm>
      </p:grpSpPr>
      <p:sp>
        <p:nvSpPr>
          <p:cNvPr id="95" name="Google Shape;95;g3b6c7e62156_0_3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b6c7e62156_0_3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 name="Shape 94"/>
        <p:cNvGrpSpPr/>
        <p:nvPr/>
      </p:nvGrpSpPr>
      <p:grpSpPr>
        <a:xfrm>
          <a:off x="0" y="0"/>
          <a:ext cx="0" cy="0"/>
          <a:chOff x="0" y="0"/>
          <a:chExt cx="0" cy="0"/>
        </a:xfrm>
      </p:grpSpPr>
      <p:sp>
        <p:nvSpPr>
          <p:cNvPr id="95" name="Google Shape;95;g3b6c7e62156_0_3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b6c7e62156_0_3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 name="Shape 100"/>
        <p:cNvGrpSpPr/>
        <p:nvPr/>
      </p:nvGrpSpPr>
      <p:grpSpPr>
        <a:xfrm>
          <a:off x="0" y="0"/>
          <a:ext cx="0" cy="0"/>
          <a:chOff x="0" y="0"/>
          <a:chExt cx="0" cy="0"/>
        </a:xfrm>
      </p:grpSpPr>
      <p:sp>
        <p:nvSpPr>
          <p:cNvPr id="101" name="Google Shape;101;g3b6c7e62156_0_4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b6c7e62156_0_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 name="Shape 100"/>
        <p:cNvGrpSpPr/>
        <p:nvPr/>
      </p:nvGrpSpPr>
      <p:grpSpPr>
        <a:xfrm>
          <a:off x="0" y="0"/>
          <a:ext cx="0" cy="0"/>
          <a:chOff x="0" y="0"/>
          <a:chExt cx="0" cy="0"/>
        </a:xfrm>
      </p:grpSpPr>
      <p:sp>
        <p:nvSpPr>
          <p:cNvPr id="101" name="Google Shape;101;g3b6c7e62156_0_4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b6c7e62156_0_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 name="Shape 100"/>
        <p:cNvGrpSpPr/>
        <p:nvPr/>
      </p:nvGrpSpPr>
      <p:grpSpPr>
        <a:xfrm>
          <a:off x="0" y="0"/>
          <a:ext cx="0" cy="0"/>
          <a:chOff x="0" y="0"/>
          <a:chExt cx="0" cy="0"/>
        </a:xfrm>
      </p:grpSpPr>
      <p:sp>
        <p:nvSpPr>
          <p:cNvPr id="101" name="Google Shape;101;g3b6c7e62156_0_4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b6c7e62156_0_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g3b6c7e62156_0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b6c7e62156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1.xml"/><Relationship Id="rId2" Type="http://schemas.openxmlformats.org/officeDocument/2006/relationships/tags" Target="../tags/tag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1.xml"/><Relationship Id="rId2" Type="http://schemas.openxmlformats.org/officeDocument/2006/relationships/tags" Target="../tags/tag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1.xml"/><Relationship Id="rId2" Type="http://schemas.openxmlformats.org/officeDocument/2006/relationships/image" Target="../media/image5.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1.xml"/><Relationship Id="rId2" Type="http://schemas.openxmlformats.org/officeDocument/2006/relationships/image" Target="../media/image6.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1.xml"/><Relationship Id="rId2" Type="http://schemas.openxmlformats.org/officeDocument/2006/relationships/image" Target="../media/image7.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1.xml"/><Relationship Id="rId2" Type="http://schemas.openxmlformats.org/officeDocument/2006/relationships/image" Target="../media/image8.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1.xml"/><Relationship Id="rId2" Type="http://schemas.openxmlformats.org/officeDocument/2006/relationships/tags" Target="../tags/tag3.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1.xml"/><Relationship Id="rId2" Type="http://schemas.openxmlformats.org/officeDocument/2006/relationships/image" Target="../media/image9.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1.xml"/><Relationship Id="rId2" Type="http://schemas.openxmlformats.org/officeDocument/2006/relationships/tags" Target="../tags/tag4.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1.xml"/><Relationship Id="rId2" Type="http://schemas.openxmlformats.org/officeDocument/2006/relationships/image" Target="../media/image10.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1.xml"/><Relationship Id="rId2" Type="http://schemas.openxmlformats.org/officeDocument/2006/relationships/image" Target="../media/image11.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1.xml"/><Relationship Id="rId2" Type="http://schemas.openxmlformats.org/officeDocument/2006/relationships/image" Target="../media/image12.jpe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1.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3" name="Shape 53"/>
        <p:cNvGrpSpPr/>
        <p:nvPr/>
      </p:nvGrpSpPr>
      <p:grpSpPr>
        <a:xfrm>
          <a:off x="0" y="0"/>
          <a:ext cx="0" cy="0"/>
          <a:chOff x="0" y="0"/>
          <a:chExt cx="0" cy="0"/>
        </a:xfrm>
      </p:grpSpPr>
      <p:pic>
        <p:nvPicPr>
          <p:cNvPr id="54" name="Google Shape;54;p13" title="Artscfghgboard – 5.png"/>
          <p:cNvPicPr preferRelativeResize="0"/>
          <p:nvPr/>
        </p:nvPicPr>
        <p:blipFill>
          <a:blip r:embed="rId1"/>
          <a:stretch>
            <a:fillRect/>
          </a:stretch>
        </p:blipFill>
        <p:spPr>
          <a:xfrm>
            <a:off x="0" y="30480"/>
            <a:ext cx="9144018" cy="5143501"/>
          </a:xfrm>
          <a:prstGeom prst="rect">
            <a:avLst/>
          </a:prstGeom>
          <a:noFill/>
          <a:ln>
            <a:noFill/>
          </a:ln>
        </p:spPr>
      </p:pic>
      <p:sp>
        <p:nvSpPr>
          <p:cNvPr id="55" name="Google Shape;55;p13"/>
          <p:cNvSpPr txBox="1"/>
          <p:nvPr/>
        </p:nvSpPr>
        <p:spPr>
          <a:xfrm>
            <a:off x="383540" y="3240405"/>
            <a:ext cx="8520430" cy="427355"/>
          </a:xfrm>
          <a:prstGeom prst="rect">
            <a:avLst/>
          </a:prstGeom>
          <a:noFill/>
          <a:ln>
            <a:noFill/>
          </a:ln>
        </p:spPr>
        <p:txBody>
          <a:bodyPr spcFirstLastPara="1" wrap="square" lIns="91425" tIns="91425" rIns="91425" bIns="91425" anchor="t" anchorCtr="0">
            <a:normAutofit lnSpcReduction="20000"/>
          </a:bodyPr>
          <a:lstStyle/>
          <a:p>
            <a:pPr marL="0" lvl="0" indent="0" algn="l" rtl="0">
              <a:lnSpc>
                <a:spcPct val="80000"/>
              </a:lnSpc>
              <a:spcBef>
                <a:spcPts val="0"/>
              </a:spcBef>
              <a:spcAft>
                <a:spcPts val="0"/>
              </a:spcAft>
              <a:buNone/>
            </a:pPr>
            <a:r>
              <a:rPr lang="en-GB" sz="1600" b="1">
                <a:solidFill>
                  <a:srgbClr val="202729"/>
                </a:solidFill>
                <a:latin typeface="Times New Roman" panose="02020603050405020304" charset="0"/>
                <a:ea typeface="Manrope SemiBold"/>
                <a:cs typeface="Times New Roman" panose="02020603050405020304" charset="0"/>
                <a:sym typeface="Manrope SemiBold"/>
              </a:rPr>
              <a:t>Team Name</a:t>
            </a:r>
            <a:r>
              <a:rPr lang="en-GB" sz="1600">
                <a:solidFill>
                  <a:srgbClr val="202729"/>
                </a:solidFill>
                <a:latin typeface="Times New Roman" panose="02020603050405020304" charset="0"/>
                <a:ea typeface="Manrope SemiBold"/>
                <a:cs typeface="Times New Roman" panose="02020603050405020304" charset="0"/>
                <a:sym typeface="Manrope SemiBold"/>
              </a:rPr>
              <a:t> :</a:t>
            </a:r>
            <a:r>
              <a:rPr lang="en-IN" altLang="en-GB" sz="1600">
                <a:solidFill>
                  <a:srgbClr val="202729"/>
                </a:solidFill>
                <a:latin typeface="Times New Roman" panose="02020603050405020304" charset="0"/>
                <a:ea typeface="Manrope SemiBold"/>
                <a:cs typeface="Times New Roman" panose="02020603050405020304" charset="0"/>
                <a:sym typeface="Manrope SemiBold"/>
              </a:rPr>
              <a:t> </a:t>
            </a:r>
            <a:r>
              <a:rPr lang="en-IN" altLang="en-GB">
                <a:solidFill>
                  <a:srgbClr val="202729"/>
                </a:solidFill>
                <a:latin typeface="Times New Roman" panose="02020603050405020304" charset="0"/>
                <a:ea typeface="Manrope SemiBold"/>
                <a:cs typeface="Times New Roman" panose="02020603050405020304" charset="0"/>
                <a:sym typeface="Manrope SemiBold"/>
              </a:rPr>
              <a:t>UBXTY- Unboxing Technology</a:t>
            </a:r>
            <a:endParaRPr lang="en-IN" altLang="en-GB">
              <a:solidFill>
                <a:srgbClr val="202729"/>
              </a:solidFill>
              <a:latin typeface="Times New Roman" panose="02020603050405020304" charset="0"/>
              <a:ea typeface="Manrope SemiBold"/>
              <a:cs typeface="Times New Roman" panose="02020603050405020304" charset="0"/>
              <a:sym typeface="Manrope SemiBold"/>
            </a:endParaRPr>
          </a:p>
        </p:txBody>
      </p:sp>
      <p:sp>
        <p:nvSpPr>
          <p:cNvPr id="56" name="Google Shape;56;p13"/>
          <p:cNvSpPr txBox="1"/>
          <p:nvPr/>
        </p:nvSpPr>
        <p:spPr>
          <a:xfrm>
            <a:off x="383540" y="3939540"/>
            <a:ext cx="8520430" cy="767080"/>
          </a:xfrm>
          <a:prstGeom prst="rect">
            <a:avLst/>
          </a:prstGeom>
          <a:noFill/>
          <a:ln>
            <a:noFill/>
          </a:ln>
        </p:spPr>
        <p:txBody>
          <a:bodyPr spcFirstLastPara="1" wrap="square" lIns="91425" tIns="91425" rIns="91425" bIns="91425" anchor="t" anchorCtr="0">
            <a:normAutofit fontScale="25000"/>
          </a:bodyPr>
          <a:lstStyle/>
          <a:p>
            <a:pPr marL="0" lvl="0" indent="0" algn="just" rtl="0">
              <a:lnSpc>
                <a:spcPct val="80000"/>
              </a:lnSpc>
              <a:spcBef>
                <a:spcPts val="0"/>
              </a:spcBef>
              <a:spcAft>
                <a:spcPts val="0"/>
              </a:spcAft>
              <a:buNone/>
            </a:pPr>
            <a:r>
              <a:rPr lang="en-GB" sz="6400" b="1">
                <a:solidFill>
                  <a:srgbClr val="202729"/>
                </a:solidFill>
                <a:latin typeface="Times New Roman" panose="02020603050405020304" charset="0"/>
                <a:ea typeface="Manrope SemiBold"/>
                <a:cs typeface="Times New Roman" panose="02020603050405020304" charset="0"/>
                <a:sym typeface="Manrope SemiBold"/>
              </a:rPr>
              <a:t>Problem Statement</a:t>
            </a:r>
            <a:r>
              <a:rPr lang="en-GB" sz="6400">
                <a:solidFill>
                  <a:srgbClr val="202729"/>
                </a:solidFill>
                <a:latin typeface="Times New Roman" panose="02020603050405020304" charset="0"/>
                <a:ea typeface="Manrope SemiBold"/>
                <a:cs typeface="Times New Roman" panose="02020603050405020304" charset="0"/>
                <a:sym typeface="Manrope SemiBold"/>
              </a:rPr>
              <a:t> </a:t>
            </a:r>
            <a:r>
              <a:rPr lang="en-GB" sz="5600">
                <a:solidFill>
                  <a:srgbClr val="202729"/>
                </a:solidFill>
                <a:latin typeface="Times New Roman" panose="02020603050405020304" charset="0"/>
                <a:ea typeface="Manrope SemiBold"/>
                <a:cs typeface="Times New Roman" panose="02020603050405020304" charset="0"/>
                <a:sym typeface="Manrope SemiBold"/>
              </a:rPr>
              <a:t>:</a:t>
            </a:r>
            <a:r>
              <a:rPr lang="en-IN" altLang="en-GB" sz="5600">
                <a:solidFill>
                  <a:srgbClr val="202729"/>
                </a:solidFill>
                <a:latin typeface="Times New Roman" panose="02020603050405020304" charset="0"/>
                <a:ea typeface="Manrope SemiBold"/>
                <a:cs typeface="Times New Roman" panose="02020603050405020304" charset="0"/>
                <a:sym typeface="Manrope SemiBold"/>
              </a:rPr>
              <a:t> </a:t>
            </a:r>
            <a:r>
              <a:rPr lang="en-US" altLang="en-US" sz="5600">
                <a:solidFill>
                  <a:srgbClr val="202729"/>
                </a:solidFill>
                <a:latin typeface="Times New Roman" panose="02020603050405020304" charset="0"/>
                <a:ea typeface="Manrope SemiBold"/>
                <a:cs typeface="Times New Roman" panose="02020603050405020304" charset="0"/>
                <a:sym typeface="Manrope SemiBold"/>
              </a:rPr>
              <a:t>India is the "Diabetes Capital of the World," and 1 in 5 Indian women suffer from PCOS. Current health apps are reactive (tracking symptoms after they occur) and use linear rules (generic advice for everyone). They fail to account for the fact that metabolic health is non-linear—stress and food affect every individual differently.</a:t>
            </a:r>
            <a:endParaRPr lang="en-US" altLang="en-US" sz="5600">
              <a:solidFill>
                <a:srgbClr val="202729"/>
              </a:solidFill>
              <a:latin typeface="Times New Roman" panose="02020603050405020304" charset="0"/>
              <a:ea typeface="Manrope SemiBold"/>
              <a:cs typeface="Times New Roman" panose="02020603050405020304" charset="0"/>
              <a:sym typeface="Manrope SemiBold"/>
            </a:endParaRPr>
          </a:p>
          <a:p>
            <a:pPr marL="0" lvl="0" indent="0" algn="just" rtl="0">
              <a:lnSpc>
                <a:spcPct val="70000"/>
              </a:lnSpc>
              <a:spcBef>
                <a:spcPts val="0"/>
              </a:spcBef>
              <a:spcAft>
                <a:spcPts val="0"/>
              </a:spcAft>
              <a:buNone/>
            </a:pPr>
            <a:endParaRPr lang="en-US" altLang="en-US" sz="5600">
              <a:solidFill>
                <a:srgbClr val="202729"/>
              </a:solidFill>
              <a:latin typeface="Times New Roman" panose="02020603050405020304" charset="0"/>
              <a:ea typeface="Manrope SemiBold"/>
              <a:cs typeface="Times New Roman" panose="02020603050405020304" charset="0"/>
              <a:sym typeface="Manrope SemiBold"/>
            </a:endParaRPr>
          </a:p>
          <a:p>
            <a:pPr marL="0" lvl="0" indent="0" algn="just" rtl="0">
              <a:lnSpc>
                <a:spcPct val="70000"/>
              </a:lnSpc>
              <a:spcBef>
                <a:spcPts val="0"/>
              </a:spcBef>
              <a:spcAft>
                <a:spcPts val="0"/>
              </a:spcAft>
              <a:buNone/>
            </a:pPr>
            <a:r>
              <a:rPr lang="en-IN" altLang="en-US" sz="5600" b="1">
                <a:solidFill>
                  <a:srgbClr val="202729"/>
                </a:solidFill>
                <a:latin typeface="Times New Roman" panose="02020603050405020304" charset="0"/>
                <a:ea typeface="Manrope SemiBold"/>
                <a:cs typeface="Times New Roman" panose="02020603050405020304" charset="0"/>
                <a:sym typeface="Manrope SemiBold"/>
              </a:rPr>
              <a:t>Project Name</a:t>
            </a:r>
            <a:r>
              <a:rPr lang="en-IN" altLang="en-US" sz="5600">
                <a:solidFill>
                  <a:srgbClr val="202729"/>
                </a:solidFill>
                <a:latin typeface="Times New Roman" panose="02020603050405020304" charset="0"/>
                <a:ea typeface="Manrope SemiBold"/>
                <a:cs typeface="Times New Roman" panose="02020603050405020304" charset="0"/>
                <a:sym typeface="Manrope SemiBold"/>
              </a:rPr>
              <a:t> : HormoneLens - </a:t>
            </a:r>
            <a:r>
              <a:rPr lang="en-US" altLang="en-US" sz="5600">
                <a:solidFill>
                  <a:srgbClr val="202729"/>
                </a:solidFill>
                <a:latin typeface="Times New Roman" panose="02020603050405020304" charset="0"/>
                <a:ea typeface="Manrope SemiBold"/>
                <a:cs typeface="Times New Roman" panose="02020603050405020304" charset="0"/>
                <a:sym typeface="Manrope SemiBold"/>
              </a:rPr>
              <a:t>See Your Health Before You Live It</a:t>
            </a:r>
            <a:r>
              <a:rPr lang="en-IN" altLang="en-US" sz="5600">
                <a:solidFill>
                  <a:srgbClr val="202729"/>
                </a:solidFill>
                <a:latin typeface="Times New Roman" panose="02020603050405020304" charset="0"/>
                <a:ea typeface="Manrope SemiBold"/>
                <a:cs typeface="Times New Roman" panose="02020603050405020304" charset="0"/>
                <a:sym typeface="Manrope SemiBold"/>
              </a:rPr>
              <a:t> !</a:t>
            </a:r>
            <a:endParaRPr lang="en-IN" altLang="en-US" sz="5600">
              <a:solidFill>
                <a:srgbClr val="202729"/>
              </a:solidFill>
              <a:latin typeface="Times New Roman" panose="02020603050405020304" charset="0"/>
              <a:ea typeface="Manrope SemiBold"/>
              <a:cs typeface="Times New Roman" panose="02020603050405020304" charset="0"/>
              <a:sym typeface="Manrope SemiBold"/>
            </a:endParaRPr>
          </a:p>
        </p:txBody>
      </p:sp>
      <p:sp>
        <p:nvSpPr>
          <p:cNvPr id="57" name="Google Shape;57;p13"/>
          <p:cNvSpPr txBox="1"/>
          <p:nvPr/>
        </p:nvSpPr>
        <p:spPr>
          <a:xfrm>
            <a:off x="383540" y="3552190"/>
            <a:ext cx="8520430" cy="48387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b="1">
                <a:solidFill>
                  <a:srgbClr val="202729"/>
                </a:solidFill>
                <a:latin typeface="Times New Roman" panose="02020603050405020304" charset="0"/>
                <a:ea typeface="Manrope SemiBold"/>
                <a:cs typeface="Times New Roman" panose="02020603050405020304" charset="0"/>
                <a:sym typeface="Manrope SemiBold"/>
              </a:rPr>
              <a:t>Team Leader Name</a:t>
            </a:r>
            <a:r>
              <a:rPr lang="en-GB" sz="1600">
                <a:solidFill>
                  <a:srgbClr val="202729"/>
                </a:solidFill>
                <a:latin typeface="Times New Roman" panose="02020603050405020304" charset="0"/>
                <a:ea typeface="Manrope SemiBold"/>
                <a:cs typeface="Times New Roman" panose="02020603050405020304" charset="0"/>
                <a:sym typeface="Manrope SemiBold"/>
              </a:rPr>
              <a:t> :</a:t>
            </a:r>
            <a:r>
              <a:rPr lang="en-IN" altLang="en-GB" sz="1600">
                <a:solidFill>
                  <a:srgbClr val="202729"/>
                </a:solidFill>
                <a:latin typeface="Times New Roman" panose="02020603050405020304" charset="0"/>
                <a:ea typeface="Manrope SemiBold"/>
                <a:cs typeface="Times New Roman" panose="02020603050405020304" charset="0"/>
                <a:sym typeface="Manrope SemiBold"/>
              </a:rPr>
              <a:t> </a:t>
            </a:r>
            <a:r>
              <a:rPr lang="en-IN" altLang="en-GB">
                <a:solidFill>
                  <a:srgbClr val="202729"/>
                </a:solidFill>
                <a:latin typeface="Times New Roman" panose="02020603050405020304" charset="0"/>
                <a:ea typeface="Manrope SemiBold"/>
                <a:cs typeface="Times New Roman" panose="02020603050405020304" charset="0"/>
                <a:sym typeface="Manrope SemiBold"/>
              </a:rPr>
              <a:t>Ravdeep Singh</a:t>
            </a:r>
            <a:endParaRPr lang="en-IN" altLang="en-GB">
              <a:solidFill>
                <a:srgbClr val="202729"/>
              </a:solidFill>
              <a:latin typeface="Times New Roman" panose="02020603050405020304" charset="0"/>
              <a:ea typeface="Manrope SemiBold"/>
              <a:cs typeface="Times New Roman" panose="02020603050405020304" charset="0"/>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1" name="Shape 61"/>
        <p:cNvGrpSpPr/>
        <p:nvPr/>
      </p:nvGrpSpPr>
      <p:grpSpPr>
        <a:xfrm>
          <a:off x="0" y="0"/>
          <a:ext cx="0" cy="0"/>
          <a:chOff x="0" y="0"/>
          <a:chExt cx="0" cy="0"/>
        </a:xfrm>
      </p:grpSpPr>
      <p:pic>
        <p:nvPicPr>
          <p:cNvPr id="62" name="Google Shape;62;p14"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63" name="Google Shape;63;p14"/>
          <p:cNvSpPr txBox="1"/>
          <p:nvPr/>
        </p:nvSpPr>
        <p:spPr>
          <a:xfrm>
            <a:off x="311785" y="863600"/>
            <a:ext cx="8385810" cy="406844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935"/>
              <a:buNone/>
            </a:pPr>
            <a:r>
              <a:rPr lang="en-GB" b="1">
                <a:solidFill>
                  <a:srgbClr val="202729"/>
                </a:solidFill>
                <a:latin typeface="Times New Roman" panose="02020603050405020304" charset="0"/>
                <a:ea typeface="Manrope"/>
                <a:cs typeface="Times New Roman" panose="02020603050405020304" charset="0"/>
                <a:sym typeface="Manrope"/>
              </a:rPr>
              <a:t>Brief about the Idea:</a:t>
            </a:r>
            <a:br>
              <a:rPr lang="en-GB" b="1">
                <a:solidFill>
                  <a:srgbClr val="202729"/>
                </a:solidFill>
                <a:latin typeface="Times New Roman" panose="02020603050405020304" charset="0"/>
                <a:ea typeface="Manrope"/>
                <a:cs typeface="Times New Roman" panose="02020603050405020304" charset="0"/>
                <a:sym typeface="Manrope"/>
              </a:rPr>
            </a:br>
            <a:r>
              <a:rPr lang="en-US" altLang="en-US" sz="1300">
                <a:solidFill>
                  <a:schemeClr val="tx1"/>
                </a:solidFill>
                <a:latin typeface="Times New Roman" panose="02020603050405020304" charset="0"/>
                <a:ea typeface="Manrope"/>
                <a:cs typeface="Times New Roman" panose="02020603050405020304" charset="0"/>
                <a:sym typeface="Manrope"/>
              </a:rPr>
              <a:t>Hormone</a:t>
            </a:r>
            <a:r>
              <a:rPr lang="en-IN" altLang="en-US" sz="1300">
                <a:solidFill>
                  <a:schemeClr val="tx1"/>
                </a:solidFill>
                <a:latin typeface="Times New Roman" panose="02020603050405020304" charset="0"/>
                <a:ea typeface="Manrope"/>
                <a:cs typeface="Times New Roman" panose="02020603050405020304" charset="0"/>
                <a:sym typeface="Manrope"/>
              </a:rPr>
              <a:t>Lens</a:t>
            </a:r>
            <a:r>
              <a:rPr lang="en-US" altLang="en-US" sz="1300">
                <a:solidFill>
                  <a:schemeClr val="tx1"/>
                </a:solidFill>
                <a:latin typeface="Times New Roman" panose="02020603050405020304" charset="0"/>
                <a:ea typeface="Manrope"/>
                <a:cs typeface="Times New Roman" panose="02020603050405020304" charset="0"/>
                <a:sym typeface="Manrope"/>
              </a:rPr>
              <a:t> is an AI-powered "Hormonal Digital Twin." Instead of just logging past data, it creates a virtual mirror of the user's metabolism.</a:t>
            </a:r>
            <a:r>
              <a:rPr lang="en-IN" altLang="en-US" sz="1300">
                <a:solidFill>
                  <a:schemeClr val="tx1"/>
                </a:solidFill>
                <a:latin typeface="Times New Roman" panose="02020603050405020304" charset="0"/>
                <a:ea typeface="Manrope"/>
                <a:cs typeface="Times New Roman" panose="02020603050405020304" charset="0"/>
                <a:sym typeface="Manrope"/>
              </a:rPr>
              <a:t> </a:t>
            </a:r>
            <a:r>
              <a:rPr lang="en-US" altLang="en-US" sz="1300">
                <a:solidFill>
                  <a:schemeClr val="tx1"/>
                </a:solidFill>
                <a:latin typeface="Times New Roman" panose="02020603050405020304" charset="0"/>
                <a:ea typeface="Manrope"/>
                <a:cs typeface="Times New Roman" panose="02020603050405020304" charset="0"/>
                <a:sym typeface="Manrope"/>
              </a:rPr>
              <a:t>It allows users to counterfactualize their health</a:t>
            </a:r>
            <a:r>
              <a:rPr lang="en-IN" altLang="en-US" sz="1300">
                <a:solidFill>
                  <a:schemeClr val="tx1"/>
                </a:solidFill>
                <a:latin typeface="Times New Roman" panose="02020603050405020304" charset="0"/>
                <a:ea typeface="Manrope"/>
                <a:cs typeface="Times New Roman" panose="02020603050405020304" charset="0"/>
                <a:sym typeface="Manrope"/>
              </a:rPr>
              <a:t> that is </a:t>
            </a:r>
            <a:r>
              <a:rPr lang="en-US" altLang="en-US" sz="1300">
                <a:solidFill>
                  <a:schemeClr val="tx1"/>
                </a:solidFill>
                <a:latin typeface="Times New Roman" panose="02020603050405020304" charset="0"/>
                <a:ea typeface="Manrope"/>
                <a:cs typeface="Times New Roman" panose="02020603050405020304" charset="0"/>
                <a:sym typeface="Manrope"/>
              </a:rPr>
              <a:t>simulating how a specific meal or missed sleep will impact their glucose and cortisol levels before they make the decision. This shifts healthcare from Reactive Tracking to Predictive Simulation.</a:t>
            </a:r>
            <a:endParaRPr lang="en-US" altLang="en-US" sz="1300">
              <a:solidFill>
                <a:schemeClr val="tx1"/>
              </a:solidFill>
              <a:latin typeface="Times New Roman" panose="02020603050405020304" charset="0"/>
              <a:ea typeface="Manrope"/>
              <a:cs typeface="Times New Roman" panose="02020603050405020304" charset="0"/>
              <a:sym typeface="Manrope"/>
            </a:endParaRPr>
          </a:p>
          <a:p>
            <a:pPr marL="0" lvl="0" indent="0" algn="l" rtl="0">
              <a:lnSpc>
                <a:spcPct val="115000"/>
              </a:lnSpc>
              <a:spcBef>
                <a:spcPts val="0"/>
              </a:spcBef>
              <a:spcAft>
                <a:spcPts val="1200"/>
              </a:spcAft>
              <a:buSzPts val="935"/>
              <a:buNone/>
            </a:pPr>
            <a:r>
              <a:rPr lang="en-US" altLang="en-US" b="1">
                <a:solidFill>
                  <a:srgbClr val="202729"/>
                </a:solidFill>
                <a:latin typeface="Times New Roman" panose="02020603050405020304" charset="0"/>
                <a:ea typeface="Manrope"/>
                <a:cs typeface="Times New Roman" panose="02020603050405020304" charset="0"/>
                <a:sym typeface="Manrope"/>
              </a:rPr>
              <a:t>Users can input lifestyle patterns and predict risks like:</a:t>
            </a:r>
            <a:endParaRPr lang="en-US" altLang="en-US" b="1">
              <a:solidFill>
                <a:srgbClr val="202729"/>
              </a:solidFill>
              <a:latin typeface="Times New Roman" panose="02020603050405020304" charset="0"/>
              <a:ea typeface="Manrope"/>
              <a:cs typeface="Times New Roman" panose="02020603050405020304" charset="0"/>
              <a:sym typeface="Manrope"/>
            </a:endParaRPr>
          </a:p>
          <a:p>
            <a:pPr marL="0" lvl="0" indent="0" algn="l" rtl="0">
              <a:lnSpc>
                <a:spcPct val="115000"/>
              </a:lnSpc>
              <a:spcBef>
                <a:spcPts val="0"/>
              </a:spcBef>
              <a:spcAft>
                <a:spcPts val="1200"/>
              </a:spcAft>
              <a:buSzPts val="935"/>
              <a:buFont typeface="Arial" panose="020B0604020202020204" pitchFamily="34" charset="0"/>
              <a:buNone/>
            </a:pPr>
            <a:endParaRPr lang="en-US" altLang="en-US" b="1">
              <a:solidFill>
                <a:srgbClr val="202729"/>
              </a:solidFill>
              <a:latin typeface="Times New Roman" panose="02020603050405020304" charset="0"/>
              <a:ea typeface="Manrope"/>
              <a:cs typeface="Times New Roman" panose="02020603050405020304" charset="0"/>
              <a:sym typeface="Manrope"/>
            </a:endParaRPr>
          </a:p>
        </p:txBody>
      </p:sp>
      <p:graphicFrame>
        <p:nvGraphicFramePr>
          <p:cNvPr id="2" name="Table 1"/>
          <p:cNvGraphicFramePr/>
          <p:nvPr>
            <p:custDataLst>
              <p:tags r:id="rId2"/>
            </p:custDataLst>
          </p:nvPr>
        </p:nvGraphicFramePr>
        <p:xfrm>
          <a:off x="1305560" y="2633345"/>
          <a:ext cx="6398895" cy="2094865"/>
        </p:xfrm>
        <a:graphic>
          <a:graphicData uri="http://schemas.openxmlformats.org/drawingml/2006/table">
            <a:tbl>
              <a:tblPr firstRow="1" bandRow="1">
                <a:tableStyleId>{5C22544A-7EE6-4342-B048-85BDC9FD1C3A}</a:tableStyleId>
              </a:tblPr>
              <a:tblGrid>
                <a:gridCol w="2132965"/>
                <a:gridCol w="2132965"/>
                <a:gridCol w="2132965"/>
              </a:tblGrid>
              <a:tr h="393065">
                <a:tc>
                  <a:txBody>
                    <a:bodyPr/>
                    <a:p>
                      <a:r>
                        <a:rPr lang="en-US" altLang="zh-CN" sz="1100"/>
                        <a:t>Simulation Output</a:t>
                      </a:r>
                      <a:endParaRPr lang="en-US" altLang="zh-CN" sz="1100"/>
                    </a:p>
                  </a:txBody>
                  <a:tcPr marL="0" marR="0" marT="0" marB="0" anchor="ctr" anchorCtr="0"/>
                </a:tc>
                <a:tc>
                  <a:txBody>
                    <a:bodyPr/>
                    <a:p>
                      <a:r>
                        <a:rPr lang="en-US" altLang="zh-CN" sz="1100"/>
                        <a:t>For PCOS Users</a:t>
                      </a:r>
                      <a:endParaRPr lang="en-US" altLang="zh-CN" sz="1100"/>
                    </a:p>
                  </a:txBody>
                  <a:tcPr marL="0" marR="0" marT="0" marB="0" anchor="ctr" anchorCtr="0"/>
                </a:tc>
                <a:tc>
                  <a:txBody>
                    <a:bodyPr/>
                    <a:p>
                      <a:r>
                        <a:rPr lang="en-US" altLang="zh-CN" sz="1100"/>
                        <a:t>For Diabetic Users</a:t>
                      </a:r>
                      <a:endParaRPr lang="en-US" altLang="zh-CN" sz="1100"/>
                    </a:p>
                  </a:txBody>
                  <a:tcPr marL="0" marR="0" marT="0" marB="0" anchor="ctr" anchorCtr="0"/>
                </a:tc>
              </a:tr>
              <a:tr h="424815">
                <a:tc>
                  <a:txBody>
                    <a:bodyPr/>
                    <a:p>
                      <a:r>
                        <a:rPr lang="en-US" altLang="zh-CN" sz="1100"/>
                        <a:t>Insulin Sensitivity</a:t>
                      </a:r>
                      <a:endParaRPr lang="en-US" altLang="zh-CN" sz="1100"/>
                    </a:p>
                  </a:txBody>
                  <a:tcPr marL="0" marR="0" marT="0" marB="0" anchor="ctr" anchorCtr="0"/>
                </a:tc>
                <a:tc>
                  <a:txBody>
                    <a:bodyPr/>
                    <a:p>
                      <a:r>
                        <a:rPr lang="en-US" altLang="zh-CN" sz="1100"/>
                        <a:t>Predict Androgen Imbalance</a:t>
                      </a:r>
                      <a:endParaRPr lang="en-US" altLang="zh-CN" sz="1100"/>
                    </a:p>
                  </a:txBody>
                  <a:tcPr marL="0" marR="0" marT="0" marB="0" anchor="ctr" anchorCtr="0"/>
                </a:tc>
                <a:tc>
                  <a:txBody>
                    <a:bodyPr/>
                    <a:p>
                      <a:r>
                        <a:rPr lang="en-US" altLang="zh-CN" sz="1100"/>
                        <a:t>Predict Glucose Spike</a:t>
                      </a:r>
                      <a:endParaRPr lang="en-US" altLang="zh-CN" sz="1100"/>
                    </a:p>
                  </a:txBody>
                  <a:tcPr marL="0" marR="0" marT="0" marB="0" anchor="ctr" anchorCtr="0"/>
                </a:tc>
              </a:tr>
              <a:tr h="426085">
                <a:tc>
                  <a:txBody>
                    <a:bodyPr/>
                    <a:p>
                      <a:r>
                        <a:rPr lang="en-US" altLang="zh-CN" sz="1100"/>
                        <a:t>Sleep Cycle Impact</a:t>
                      </a:r>
                      <a:endParaRPr lang="en-US" altLang="zh-CN" sz="1100"/>
                    </a:p>
                  </a:txBody>
                  <a:tcPr marL="0" marR="0" marT="0" marB="0" anchor="ctr" anchorCtr="0"/>
                </a:tc>
                <a:tc>
                  <a:txBody>
                    <a:bodyPr/>
                    <a:p>
                      <a:r>
                        <a:rPr lang="en-US" altLang="zh-CN" sz="1100"/>
                        <a:t>Cycle Delay Risk Forecast</a:t>
                      </a:r>
                      <a:endParaRPr lang="en-US" altLang="zh-CN" sz="1100"/>
                    </a:p>
                  </a:txBody>
                  <a:tcPr marL="0" marR="0" marT="0" marB="0" anchor="ctr" anchorCtr="0"/>
                </a:tc>
                <a:tc>
                  <a:txBody>
                    <a:bodyPr/>
                    <a:p>
                      <a:r>
                        <a:rPr lang="en-US" altLang="zh-CN" sz="1100"/>
                        <a:t>Fasting Sugar Variation</a:t>
                      </a:r>
                      <a:endParaRPr lang="en-US" altLang="zh-CN" sz="1100"/>
                    </a:p>
                  </a:txBody>
                  <a:tcPr marL="0" marR="0" marT="0" marB="0" anchor="ctr" anchorCtr="0"/>
                </a:tc>
              </a:tr>
              <a:tr h="425450">
                <a:tc>
                  <a:txBody>
                    <a:bodyPr/>
                    <a:p>
                      <a:r>
                        <a:rPr lang="en-US" altLang="zh-CN" sz="1100"/>
                        <a:t>Meal Timing Effect</a:t>
                      </a:r>
                      <a:endParaRPr lang="en-US" altLang="zh-CN" sz="1100"/>
                    </a:p>
                  </a:txBody>
                  <a:tcPr marL="0" marR="0" marT="0" marB="0" anchor="ctr" anchorCtr="0"/>
                </a:tc>
                <a:tc>
                  <a:txBody>
                    <a:bodyPr/>
                    <a:p>
                      <a:r>
                        <a:rPr lang="en-US" altLang="zh-CN" sz="1100"/>
                        <a:t>Ovulation Stability Risk</a:t>
                      </a:r>
                      <a:endParaRPr lang="en-US" altLang="zh-CN" sz="1100"/>
                    </a:p>
                  </a:txBody>
                  <a:tcPr marL="0" marR="0" marT="0" marB="0" anchor="ctr" anchorCtr="0"/>
                </a:tc>
                <a:tc>
                  <a:txBody>
                    <a:bodyPr/>
                    <a:p>
                      <a:r>
                        <a:rPr lang="en-US" altLang="zh-CN" sz="1100"/>
                        <a:t>Post-meal Sugar Level</a:t>
                      </a:r>
                      <a:endParaRPr lang="en-US" altLang="zh-CN" sz="1100"/>
                    </a:p>
                  </a:txBody>
                  <a:tcPr marL="0" marR="0" marT="0" marB="0" anchor="ctr" anchorCtr="0"/>
                </a:tc>
              </a:tr>
              <a:tr h="425450">
                <a:tc>
                  <a:txBody>
                    <a:bodyPr/>
                    <a:p>
                      <a:r>
                        <a:rPr lang="en-US" altLang="zh-CN" sz="1100"/>
                        <a:t>Stress Level Simulation</a:t>
                      </a:r>
                      <a:endParaRPr lang="en-US" altLang="zh-CN" sz="1100"/>
                    </a:p>
                  </a:txBody>
                  <a:tcPr marL="0" marR="0" marT="0" marB="0" anchor="ctr" anchorCtr="0"/>
                </a:tc>
                <a:tc>
                  <a:txBody>
                    <a:bodyPr/>
                    <a:p>
                      <a:r>
                        <a:rPr lang="en-US" altLang="zh-CN" sz="1100"/>
                        <a:t>Cortisol Imbalance Detection</a:t>
                      </a:r>
                      <a:endParaRPr lang="en-US" altLang="zh-CN" sz="1100"/>
                    </a:p>
                  </a:txBody>
                  <a:tcPr marL="0" marR="0" marT="0" marB="0" anchor="ctr" anchorCtr="0"/>
                </a:tc>
                <a:tc>
                  <a:txBody>
                    <a:bodyPr/>
                    <a:p>
                      <a:r>
                        <a:rPr lang="en-US" altLang="zh-CN" sz="1100"/>
                        <a:t>Insulin Resistance Risk</a:t>
                      </a:r>
                      <a:endParaRPr lang="en-US" altLang="zh-CN" sz="1100"/>
                    </a:p>
                  </a:txBody>
                  <a:tcPr marL="0" marR="0" marT="0" marB="0" anchor="ctr" anchorCtr="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7"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69" name="Google Shape;69;p15"/>
          <p:cNvSpPr txBox="1"/>
          <p:nvPr/>
        </p:nvSpPr>
        <p:spPr>
          <a:xfrm>
            <a:off x="0" y="522605"/>
            <a:ext cx="8592820" cy="4620895"/>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1200"/>
              </a:spcBef>
              <a:spcAft>
                <a:spcPts val="1200"/>
              </a:spcAft>
              <a:buSzPts val="935"/>
              <a:buNone/>
            </a:pPr>
            <a:r>
              <a:rPr lang="en-US" altLang="en-US" b="1">
                <a:solidFill>
                  <a:srgbClr val="202729"/>
                </a:solidFill>
                <a:latin typeface="Times New Roman" panose="02020603050405020304" charset="0"/>
                <a:ea typeface="Manrope SemiBold"/>
                <a:cs typeface="Times New Roman" panose="02020603050405020304" charset="0"/>
                <a:sym typeface="Manrope SemiBold"/>
              </a:rPr>
              <a:t>Predictive Simulation vs Traditional Health Tracking</a:t>
            </a:r>
            <a:r>
              <a:rPr lang="en-IN" altLang="en-US" b="1">
                <a:solidFill>
                  <a:srgbClr val="202729"/>
                </a:solidFill>
                <a:latin typeface="Times New Roman" panose="02020603050405020304" charset="0"/>
                <a:ea typeface="Manrope SemiBold"/>
                <a:cs typeface="Times New Roman" panose="02020603050405020304" charset="0"/>
                <a:sym typeface="Manrope SemiBold"/>
              </a:rPr>
              <a:t>:</a:t>
            </a:r>
            <a:endParaRPr lang="en-IN" altLang="en-US" b="1">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95000"/>
              </a:lnSpc>
              <a:spcBef>
                <a:spcPts val="1200"/>
              </a:spcBef>
              <a:spcAft>
                <a:spcPts val="1200"/>
              </a:spcAft>
              <a:buSzPts val="935"/>
              <a:buNone/>
            </a:pPr>
            <a:r>
              <a:rPr lang="en-US" altLang="en-US" b="1">
                <a:solidFill>
                  <a:srgbClr val="202729"/>
                </a:solidFill>
                <a:latin typeface="Times New Roman" panose="02020603050405020304" charset="0"/>
                <a:ea typeface="Manrope SemiBold"/>
                <a:cs typeface="Times New Roman" panose="02020603050405020304" charset="0"/>
                <a:sym typeface="Manrope SemiBold"/>
              </a:rPr>
              <a:t>How is it Different?</a:t>
            </a:r>
            <a:endParaRPr lang="en-US" altLang="en-US" b="1">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115000"/>
              </a:lnSpc>
              <a:spcBef>
                <a:spcPts val="1200"/>
              </a:spcBef>
              <a:spcAft>
                <a:spcPts val="1200"/>
              </a:spcAft>
              <a:buSzPts val="935"/>
              <a:buFont typeface="Arial" panose="020B0604020202020204" pitchFamily="34" charset="0"/>
              <a:buNone/>
            </a:pPr>
            <a:endParaRPr lang="en-IN" altLang="en-US">
              <a:solidFill>
                <a:srgbClr val="202729"/>
              </a:solidFill>
              <a:latin typeface="Times New Roman" panose="02020603050405020304" charset="0"/>
              <a:ea typeface="Manrope SemiBold"/>
              <a:cs typeface="Times New Roman" panose="02020603050405020304" charset="0"/>
              <a:sym typeface="Manrope SemiBold"/>
            </a:endParaRPr>
          </a:p>
        </p:txBody>
      </p:sp>
      <p:graphicFrame>
        <p:nvGraphicFramePr>
          <p:cNvPr id="2" name="Table 1"/>
          <p:cNvGraphicFramePr/>
          <p:nvPr>
            <p:custDataLst>
              <p:tags r:id="rId2"/>
            </p:custDataLst>
          </p:nvPr>
        </p:nvGraphicFramePr>
        <p:xfrm>
          <a:off x="1070610" y="1664335"/>
          <a:ext cx="6725920" cy="2933700"/>
        </p:xfrm>
        <a:graphic>
          <a:graphicData uri="http://schemas.openxmlformats.org/drawingml/2006/table">
            <a:tbl>
              <a:tblPr firstRow="1" bandRow="1">
                <a:tableStyleId>{5C22544A-7EE6-4342-B048-85BDC9FD1C3A}</a:tableStyleId>
              </a:tblPr>
              <a:tblGrid>
                <a:gridCol w="3362960"/>
                <a:gridCol w="3362960"/>
              </a:tblGrid>
              <a:tr h="419100">
                <a:tc>
                  <a:txBody>
                    <a:bodyPr/>
                    <a:p>
                      <a:r>
                        <a:rPr lang="en-US" altLang="zh-CN" sz="1100"/>
                        <a:t>Traditional Health Apps (Rule-Based)</a:t>
                      </a:r>
                      <a:endParaRPr lang="en-US" altLang="zh-CN" sz="1100"/>
                    </a:p>
                  </a:txBody>
                  <a:tcPr marL="0" marR="0" marT="0" marB="0" anchor="ctr" anchorCtr="0"/>
                </a:tc>
                <a:tc>
                  <a:txBody>
                    <a:bodyPr/>
                    <a:p>
                      <a:r>
                        <a:rPr lang="en-US" altLang="zh-CN" sz="1100"/>
                        <a:t>Hormone</a:t>
                      </a:r>
                      <a:r>
                        <a:rPr lang="en-IN" altLang="en-US" sz="1100"/>
                        <a:t>Lens</a:t>
                      </a:r>
                      <a:r>
                        <a:rPr lang="en-US" altLang="zh-CN" sz="1100"/>
                        <a:t> (Predictive System)</a:t>
                      </a:r>
                      <a:endParaRPr lang="en-US" altLang="zh-CN" sz="1100"/>
                    </a:p>
                  </a:txBody>
                  <a:tcPr marL="0" marR="0" marT="0" marB="0" anchor="ctr" anchorCtr="0"/>
                </a:tc>
              </a:tr>
              <a:tr h="419100">
                <a:tc>
                  <a:txBody>
                    <a:bodyPr/>
                    <a:p>
                      <a:r>
                        <a:rPr lang="en-US" altLang="zh-CN" sz="1100"/>
                        <a:t>Monitor past lifestyle data</a:t>
                      </a:r>
                      <a:endParaRPr lang="en-US" altLang="zh-CN" sz="1100"/>
                    </a:p>
                  </a:txBody>
                  <a:tcPr marL="0" marR="0" marT="0" marB="0" anchor="ctr" anchorCtr="0"/>
                </a:tc>
                <a:tc>
                  <a:txBody>
                    <a:bodyPr/>
                    <a:p>
                      <a:r>
                        <a:rPr lang="en-US" altLang="zh-CN" sz="1100"/>
                        <a:t>Predict future hormonal outcomes</a:t>
                      </a:r>
                      <a:endParaRPr lang="en-US" altLang="zh-CN" sz="1100"/>
                    </a:p>
                  </a:txBody>
                  <a:tcPr marL="0" marR="0" marT="0" marB="0" anchor="ctr" anchorCtr="0"/>
                </a:tc>
              </a:tr>
              <a:tr h="419100">
                <a:tc>
                  <a:txBody>
                    <a:bodyPr/>
                    <a:p>
                      <a:r>
                        <a:rPr lang="en-US" altLang="zh-CN" sz="1100"/>
                        <a:t>Detect issues after symptoms appear</a:t>
                      </a:r>
                      <a:endParaRPr lang="en-US" altLang="zh-CN" sz="1100"/>
                    </a:p>
                  </a:txBody>
                  <a:tcPr marL="0" marR="0" marT="0" marB="0" anchor="ctr" anchorCtr="0"/>
                </a:tc>
                <a:tc>
                  <a:txBody>
                    <a:bodyPr/>
                    <a:p>
                      <a:r>
                        <a:rPr lang="en-US" altLang="zh-CN" sz="1100"/>
                        <a:t>Identify risks before they occur</a:t>
                      </a:r>
                      <a:endParaRPr lang="en-US" altLang="zh-CN" sz="1100"/>
                    </a:p>
                  </a:txBody>
                  <a:tcPr marL="0" marR="0" marT="0" marB="0" anchor="ctr" anchorCtr="0"/>
                </a:tc>
              </a:tr>
              <a:tr h="419100">
                <a:tc>
                  <a:txBody>
                    <a:bodyPr/>
                    <a:p>
                      <a:r>
                        <a:rPr lang="en-US" altLang="zh-CN" sz="1100"/>
                        <a:t>Provide general recommendations</a:t>
                      </a:r>
                      <a:endParaRPr lang="en-US" altLang="zh-CN" sz="1100"/>
                    </a:p>
                  </a:txBody>
                  <a:tcPr marL="0" marR="0" marT="0" marB="0" anchor="ctr" anchorCtr="0"/>
                </a:tc>
                <a:tc>
                  <a:txBody>
                    <a:bodyPr/>
                    <a:p>
                      <a:r>
                        <a:rPr lang="en-US" altLang="zh-CN" sz="1100"/>
                        <a:t>Provide personalized predictions</a:t>
                      </a:r>
                      <a:endParaRPr lang="en-US" altLang="zh-CN" sz="1100"/>
                    </a:p>
                  </a:txBody>
                  <a:tcPr marL="0" marR="0" marT="0" marB="0" anchor="ctr" anchorCtr="0"/>
                </a:tc>
              </a:tr>
              <a:tr h="419100">
                <a:tc>
                  <a:txBody>
                    <a:bodyPr/>
                    <a:p>
                      <a:r>
                        <a:rPr lang="en-US" altLang="zh-CN" sz="1100"/>
                        <a:t>Static health reports</a:t>
                      </a:r>
                      <a:endParaRPr lang="en-US" altLang="zh-CN" sz="1100"/>
                    </a:p>
                  </a:txBody>
                  <a:tcPr marL="0" marR="0" marT="0" marB="0" anchor="ctr" anchorCtr="0"/>
                </a:tc>
                <a:tc>
                  <a:txBody>
                    <a:bodyPr/>
                    <a:p>
                      <a:r>
                        <a:rPr lang="en-US" altLang="zh-CN" sz="1100"/>
                        <a:t>Simulated lifestyle impact analysis</a:t>
                      </a:r>
                      <a:endParaRPr lang="en-US" altLang="zh-CN" sz="1100"/>
                    </a:p>
                  </a:txBody>
                  <a:tcPr marL="0" marR="0" marT="0" marB="0" anchor="ctr" anchorCtr="0"/>
                </a:tc>
              </a:tr>
              <a:tr h="419100">
                <a:tc>
                  <a:txBody>
                    <a:bodyPr/>
                    <a:p>
                      <a:r>
                        <a:rPr lang="en-US" altLang="zh-CN" sz="1100"/>
                        <a:t>Reactive healthcare approach</a:t>
                      </a:r>
                      <a:endParaRPr lang="en-US" altLang="zh-CN" sz="1100"/>
                    </a:p>
                  </a:txBody>
                  <a:tcPr marL="0" marR="0" marT="0" marB="0" anchor="ctr" anchorCtr="0"/>
                </a:tc>
                <a:tc>
                  <a:txBody>
                    <a:bodyPr/>
                    <a:p>
                      <a:r>
                        <a:rPr lang="en-US" altLang="zh-CN" sz="1100"/>
                        <a:t>Preventive healthcare approach</a:t>
                      </a:r>
                      <a:endParaRPr lang="en-US" altLang="zh-CN" sz="1100"/>
                    </a:p>
                  </a:txBody>
                  <a:tcPr marL="0" marR="0" marT="0" marB="0" anchor="ctr" anchorCtr="0"/>
                </a:tc>
              </a:tr>
              <a:tr h="419100">
                <a:tc>
                  <a:txBody>
                    <a:bodyPr/>
                    <a:p>
                      <a:r>
                        <a:rPr lang="en-US" altLang="zh-CN" sz="1100"/>
                        <a:t>Same advice for all users</a:t>
                      </a:r>
                      <a:endParaRPr lang="en-US" altLang="zh-CN" sz="1100"/>
                    </a:p>
                  </a:txBody>
                  <a:tcPr marL="0" marR="0" marT="0" marB="0" anchor="ctr" anchorCtr="0"/>
                </a:tc>
                <a:tc>
                  <a:txBody>
                    <a:bodyPr/>
                    <a:p>
                      <a:r>
                        <a:rPr lang="en-US" altLang="zh-CN" sz="1100"/>
                        <a:t>Individual metabolic response model</a:t>
                      </a:r>
                      <a:endParaRPr lang="en-US" altLang="zh-CN" sz="1100"/>
                    </a:p>
                  </a:txBody>
                  <a:tcPr marL="0" marR="0" marT="0" marB="0" anchor="ctr" anchorCtr="0"/>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7"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69" name="Google Shape;69;p15"/>
          <p:cNvSpPr txBox="1"/>
          <p:nvPr/>
        </p:nvSpPr>
        <p:spPr>
          <a:xfrm>
            <a:off x="129540" y="433070"/>
            <a:ext cx="8592820" cy="599186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1200"/>
              </a:spcBef>
              <a:spcAft>
                <a:spcPts val="1200"/>
              </a:spcAft>
              <a:buSzPts val="935"/>
              <a:buNone/>
            </a:pPr>
            <a:r>
              <a:rPr lang="en-US" altLang="en-US" b="1">
                <a:solidFill>
                  <a:srgbClr val="202729"/>
                </a:solidFill>
                <a:latin typeface="Times New Roman" panose="02020603050405020304" charset="0"/>
                <a:ea typeface="Manrope SemiBold"/>
                <a:cs typeface="Times New Roman" panose="02020603050405020304" charset="0"/>
                <a:sym typeface="Manrope SemiBold"/>
              </a:rPr>
              <a:t>Predictive Simulation vs Traditional Health Tracking</a:t>
            </a:r>
            <a:r>
              <a:rPr lang="en-IN" altLang="en-US" b="1">
                <a:solidFill>
                  <a:srgbClr val="202729"/>
                </a:solidFill>
                <a:latin typeface="Times New Roman" panose="02020603050405020304" charset="0"/>
                <a:ea typeface="Manrope SemiBold"/>
                <a:cs typeface="Times New Roman" panose="02020603050405020304" charset="0"/>
                <a:sym typeface="Manrope SemiBold"/>
              </a:rPr>
              <a:t>:</a:t>
            </a:r>
            <a:endParaRPr lang="en-IN" altLang="en-US" b="1">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95000"/>
              </a:lnSpc>
              <a:spcBef>
                <a:spcPts val="1200"/>
              </a:spcBef>
              <a:spcAft>
                <a:spcPts val="1200"/>
              </a:spcAft>
              <a:buSzPts val="935"/>
              <a:buNone/>
            </a:pPr>
            <a:r>
              <a:rPr lang="en-IN" altLang="en-US" sz="1200" b="1">
                <a:solidFill>
                  <a:srgbClr val="202729"/>
                </a:solidFill>
                <a:latin typeface="Times New Roman" panose="02020603050405020304" charset="0"/>
                <a:ea typeface="Manrope SemiBold"/>
                <a:cs typeface="Times New Roman" panose="02020603050405020304" charset="0"/>
                <a:sym typeface="Manrope SemiBold"/>
              </a:rPr>
              <a:t>H</a:t>
            </a:r>
            <a:r>
              <a:rPr lang="en-US" altLang="en-US" sz="1200" b="1">
                <a:solidFill>
                  <a:srgbClr val="202729"/>
                </a:solidFill>
                <a:latin typeface="Times New Roman" panose="02020603050405020304" charset="0"/>
                <a:ea typeface="Manrope SemiBold"/>
                <a:cs typeface="Times New Roman" panose="02020603050405020304" charset="0"/>
                <a:sym typeface="Manrope SemiBold"/>
              </a:rPr>
              <a:t>ow Does It Solve the Problem?</a:t>
            </a:r>
            <a:endParaRPr lang="en-US" altLang="en-US" sz="1200" b="1">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45000"/>
              </a:lnSpc>
              <a:spcBef>
                <a:spcPts val="1200"/>
              </a:spcBef>
              <a:spcAft>
                <a:spcPts val="1200"/>
              </a:spcAft>
              <a:buSzPts val="935"/>
              <a:buFont typeface="Arial" panose="020B0604020202020204" pitchFamily="34" charset="0"/>
              <a:buNone/>
            </a:pPr>
            <a:r>
              <a:rPr lang="en-US" altLang="en-US" sz="1200" b="1">
                <a:solidFill>
                  <a:srgbClr val="202729"/>
                </a:solidFill>
                <a:latin typeface="Times New Roman" panose="02020603050405020304" charset="0"/>
                <a:ea typeface="Manrope SemiBold"/>
                <a:cs typeface="Times New Roman" panose="02020603050405020304" charset="0"/>
                <a:sym typeface="Manrope SemiBold"/>
              </a:rPr>
              <a:t>1. Shift from Reactive to Predictiv</a:t>
            </a:r>
            <a:r>
              <a:rPr lang="en-IN" altLang="en-US" sz="1200" b="1">
                <a:solidFill>
                  <a:srgbClr val="202729"/>
                </a:solidFill>
                <a:latin typeface="Times New Roman" panose="02020603050405020304" charset="0"/>
                <a:ea typeface="Manrope SemiBold"/>
                <a:cs typeface="Times New Roman" panose="02020603050405020304" charset="0"/>
                <a:sym typeface="Manrope SemiBold"/>
              </a:rPr>
              <a:t>e</a:t>
            </a:r>
            <a:endParaRPr lang="en-US" altLang="en-US" sz="1200" b="1">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5000"/>
              </a:lnSpc>
              <a:spcBef>
                <a:spcPts val="1200"/>
              </a:spcBef>
              <a:spcAft>
                <a:spcPts val="1200"/>
              </a:spcAft>
              <a:buSzPts val="935"/>
              <a:buFont typeface="Arial" panose="020B0604020202020204" pitchFamily="34" charset="0"/>
              <a:buNone/>
            </a:pPr>
            <a:r>
              <a:rPr lang="en-US" altLang="en-US" sz="1200" b="1">
                <a:solidFill>
                  <a:srgbClr val="202729"/>
                </a:solidFill>
                <a:latin typeface="Times New Roman" panose="02020603050405020304" charset="0"/>
                <a:ea typeface="Manrope SemiBold"/>
                <a:cs typeface="Times New Roman" panose="02020603050405020304" charset="0"/>
                <a:sym typeface="Manrope SemiBold"/>
              </a:rPr>
              <a:t>Current Solution</a:t>
            </a:r>
            <a:r>
              <a:rPr lang="en-US" altLang="en-US" sz="1200">
                <a:solidFill>
                  <a:srgbClr val="202729"/>
                </a:solidFill>
                <a:latin typeface="Times New Roman" panose="02020603050405020304" charset="0"/>
                <a:ea typeface="Manrope SemiBold"/>
                <a:cs typeface="Times New Roman" panose="02020603050405020304" charset="0"/>
                <a:sym typeface="Manrope SemiBold"/>
              </a:rPr>
              <a:t>: Traditional apps are "rear-view mirrors"—they only track spikes after they happen.</a:t>
            </a: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r>
              <a:rPr lang="en-US" altLang="en-US" sz="1200" b="1">
                <a:solidFill>
                  <a:srgbClr val="202729"/>
                </a:solidFill>
                <a:latin typeface="Times New Roman" panose="02020603050405020304" charset="0"/>
                <a:ea typeface="Manrope SemiBold"/>
                <a:cs typeface="Times New Roman" panose="02020603050405020304" charset="0"/>
                <a:sym typeface="Manrope SemiBold"/>
              </a:rPr>
              <a:t>HormoneLens Solution</a:t>
            </a:r>
            <a:r>
              <a:rPr lang="en-US" altLang="en-US" sz="1200">
                <a:solidFill>
                  <a:srgbClr val="202729"/>
                </a:solidFill>
                <a:latin typeface="Times New Roman" panose="02020603050405020304" charset="0"/>
                <a:ea typeface="Manrope SemiBold"/>
                <a:cs typeface="Times New Roman" panose="02020603050405020304" charset="0"/>
                <a:sym typeface="Manrope SemiBold"/>
              </a:rPr>
              <a:t>: Acts as a "Flight Simulator" for metabolism. It predicts biological costs (insulin/cortisol spikes) before the user</a:t>
            </a: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r>
              <a:rPr lang="en-US" altLang="en-US" sz="1200">
                <a:solidFill>
                  <a:srgbClr val="202729"/>
                </a:solidFill>
                <a:latin typeface="Times New Roman" panose="02020603050405020304" charset="0"/>
                <a:ea typeface="Manrope SemiBold"/>
                <a:cs typeface="Times New Roman" panose="02020603050405020304" charset="0"/>
                <a:sym typeface="Manrope SemiBold"/>
              </a:rPr>
              <a:t>eats or sleeps, preventing damage before it occurs.</a:t>
            </a:r>
            <a:endParaRPr lang="en-US" altLang="en-US" sz="1200">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75000"/>
              </a:lnSpc>
              <a:spcBef>
                <a:spcPts val="1200"/>
              </a:spcBef>
              <a:spcAft>
                <a:spcPts val="1200"/>
              </a:spcAft>
              <a:buSzPts val="935"/>
              <a:buFont typeface="Arial" panose="020B0604020202020204" pitchFamily="34" charset="0"/>
              <a:buNone/>
            </a:pPr>
            <a:r>
              <a:rPr lang="en-US" altLang="en-US" sz="1200" b="1">
                <a:solidFill>
                  <a:srgbClr val="202729"/>
                </a:solidFill>
                <a:latin typeface="Times New Roman" panose="02020603050405020304" charset="0"/>
                <a:ea typeface="Manrope SemiBold"/>
                <a:cs typeface="Times New Roman" panose="02020603050405020304" charset="0"/>
                <a:sym typeface="Manrope SemiBold"/>
              </a:rPr>
              <a:t>2. Solving the "Non-Linear" Complexity</a:t>
            </a:r>
            <a:br>
              <a:rPr lang="en-US" altLang="en-US" sz="1200" b="1">
                <a:solidFill>
                  <a:srgbClr val="202729"/>
                </a:solidFill>
                <a:latin typeface="Times New Roman" panose="02020603050405020304" charset="0"/>
                <a:ea typeface="Manrope SemiBold"/>
                <a:cs typeface="Times New Roman" panose="02020603050405020304" charset="0"/>
                <a:sym typeface="Manrope SemiBold"/>
              </a:rPr>
            </a:br>
            <a:br>
              <a:rPr lang="en-US" altLang="en-US" sz="1200" b="1">
                <a:solidFill>
                  <a:srgbClr val="202729"/>
                </a:solidFill>
                <a:latin typeface="Times New Roman" panose="02020603050405020304" charset="0"/>
                <a:ea typeface="Manrope SemiBold"/>
                <a:cs typeface="Times New Roman" panose="02020603050405020304" charset="0"/>
                <a:sym typeface="Manrope SemiBold"/>
              </a:rPr>
            </a:br>
            <a:r>
              <a:rPr lang="en-US" altLang="en-US" sz="1200" b="1">
                <a:solidFill>
                  <a:srgbClr val="202729"/>
                </a:solidFill>
                <a:latin typeface="Times New Roman" panose="02020603050405020304" charset="0"/>
                <a:ea typeface="Manrope SemiBold"/>
                <a:cs typeface="Times New Roman" panose="02020603050405020304" charset="0"/>
                <a:sym typeface="Manrope SemiBold"/>
              </a:rPr>
              <a:t>The Gap</a:t>
            </a:r>
            <a:r>
              <a:rPr lang="en-US" altLang="en-US" sz="1200">
                <a:solidFill>
                  <a:srgbClr val="202729"/>
                </a:solidFill>
                <a:latin typeface="Times New Roman" panose="02020603050405020304" charset="0"/>
                <a:ea typeface="Manrope SemiBold"/>
                <a:cs typeface="Times New Roman" panose="02020603050405020304" charset="0"/>
                <a:sym typeface="Manrope SemiBold"/>
              </a:rPr>
              <a:t>: Rule-based apps use linear logic (e.g., "If Sugar &gt; X, then Bad").</a:t>
            </a: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r>
              <a:rPr lang="en-US" altLang="en-US" sz="1200" b="1">
                <a:solidFill>
                  <a:srgbClr val="202729"/>
                </a:solidFill>
                <a:latin typeface="Times New Roman" panose="02020603050405020304" charset="0"/>
                <a:ea typeface="Manrope SemiBold"/>
                <a:cs typeface="Times New Roman" panose="02020603050405020304" charset="0"/>
                <a:sym typeface="Manrope SemiBold"/>
              </a:rPr>
              <a:t>Our AI:</a:t>
            </a:r>
            <a:r>
              <a:rPr lang="en-US" altLang="en-US" sz="1200">
                <a:solidFill>
                  <a:srgbClr val="202729"/>
                </a:solidFill>
                <a:latin typeface="Times New Roman" panose="02020603050405020304" charset="0"/>
                <a:ea typeface="Manrope SemiBold"/>
                <a:cs typeface="Times New Roman" panose="02020603050405020304" charset="0"/>
                <a:sym typeface="Manrope SemiBold"/>
              </a:rPr>
              <a:t> Metabolism is non-linear. HormoneLens leverages Amazon Bedrock</a:t>
            </a:r>
            <a:r>
              <a:rPr lang="en-IN" altLang="en-US" sz="1200">
                <a:solidFill>
                  <a:srgbClr val="202729"/>
                </a:solidFill>
                <a:latin typeface="Times New Roman" panose="02020603050405020304" charset="0"/>
                <a:ea typeface="Manrope SemiBold"/>
                <a:cs typeface="Times New Roman" panose="02020603050405020304" charset="0"/>
                <a:sym typeface="Manrope SemiBold"/>
              </a:rPr>
              <a:t> </a:t>
            </a:r>
            <a:r>
              <a:rPr lang="en-US" altLang="en-US" sz="1200">
                <a:solidFill>
                  <a:srgbClr val="202729"/>
                </a:solidFill>
                <a:latin typeface="Times New Roman" panose="02020603050405020304" charset="0"/>
                <a:ea typeface="Manrope SemiBold"/>
                <a:cs typeface="Times New Roman" panose="02020603050405020304" charset="0"/>
                <a:sym typeface="Manrope SemiBold"/>
              </a:rPr>
              <a:t>to perform complex semantic reasoning. It analyzes how Stress, Sleep, and Diet interact uniquely for each user, identifying metabolic risks that static rules completely miss.</a:t>
            </a:r>
            <a:endParaRPr lang="en-US" altLang="en-US" sz="1200">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65000"/>
              </a:lnSpc>
              <a:spcBef>
                <a:spcPts val="1200"/>
              </a:spcBef>
              <a:spcAft>
                <a:spcPts val="1200"/>
              </a:spcAft>
              <a:buSzPts val="935"/>
              <a:buFont typeface="Arial" panose="020B0604020202020204" pitchFamily="34" charset="0"/>
              <a:buNone/>
            </a:pPr>
            <a:endParaRPr lang="en-US" altLang="en-US" sz="1200">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115000"/>
              </a:lnSpc>
              <a:spcBef>
                <a:spcPts val="1200"/>
              </a:spcBef>
              <a:spcAft>
                <a:spcPts val="1200"/>
              </a:spcAft>
              <a:buSzPts val="935"/>
              <a:buFont typeface="Arial" panose="020B0604020202020204" pitchFamily="34" charset="0"/>
              <a:buNone/>
            </a:pPr>
            <a:endParaRPr lang="en-US" altLang="en-US" sz="1200">
              <a:solidFill>
                <a:srgbClr val="202729"/>
              </a:solidFill>
              <a:latin typeface="Times New Roman" panose="02020603050405020304" charset="0"/>
              <a:ea typeface="Manrope SemiBold"/>
              <a:cs typeface="Times New Roman" panose="02020603050405020304" charset="0"/>
              <a:sym typeface="Manrope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7"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69" name="Google Shape;69;p15"/>
          <p:cNvSpPr txBox="1"/>
          <p:nvPr/>
        </p:nvSpPr>
        <p:spPr>
          <a:xfrm>
            <a:off x="129540" y="433070"/>
            <a:ext cx="8592820" cy="599186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1200"/>
              </a:spcBef>
              <a:spcAft>
                <a:spcPts val="1200"/>
              </a:spcAft>
              <a:buSzPts val="935"/>
              <a:buNone/>
            </a:pPr>
            <a:r>
              <a:rPr lang="en-US" altLang="en-US" b="1">
                <a:solidFill>
                  <a:srgbClr val="202729"/>
                </a:solidFill>
                <a:latin typeface="Times New Roman" panose="02020603050405020304" charset="0"/>
                <a:ea typeface="Manrope SemiBold"/>
                <a:cs typeface="Times New Roman" panose="02020603050405020304" charset="0"/>
                <a:sym typeface="Manrope SemiBold"/>
              </a:rPr>
              <a:t>Predictive Simulation vs Traditional Health Tracking</a:t>
            </a:r>
            <a:r>
              <a:rPr lang="en-IN" altLang="en-US" b="1">
                <a:solidFill>
                  <a:srgbClr val="202729"/>
                </a:solidFill>
                <a:latin typeface="Times New Roman" panose="02020603050405020304" charset="0"/>
                <a:ea typeface="Manrope SemiBold"/>
                <a:cs typeface="Times New Roman" panose="02020603050405020304" charset="0"/>
                <a:sym typeface="Manrope SemiBold"/>
              </a:rPr>
              <a:t>:</a:t>
            </a:r>
            <a:endParaRPr lang="en-IN" altLang="en-US" b="1">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95000"/>
              </a:lnSpc>
              <a:spcBef>
                <a:spcPts val="1200"/>
              </a:spcBef>
              <a:spcAft>
                <a:spcPts val="1200"/>
              </a:spcAft>
              <a:buSzPts val="935"/>
              <a:buNone/>
            </a:pPr>
            <a:r>
              <a:rPr lang="en-IN" altLang="en-US" sz="1200" b="1">
                <a:solidFill>
                  <a:srgbClr val="202729"/>
                </a:solidFill>
                <a:latin typeface="Times New Roman" panose="02020603050405020304" charset="0"/>
                <a:ea typeface="Manrope SemiBold"/>
                <a:cs typeface="Times New Roman" panose="02020603050405020304" charset="0"/>
                <a:sym typeface="Manrope SemiBold"/>
              </a:rPr>
              <a:t>H</a:t>
            </a:r>
            <a:r>
              <a:rPr lang="en-US" altLang="en-US" sz="1200" b="1">
                <a:solidFill>
                  <a:srgbClr val="202729"/>
                </a:solidFill>
                <a:latin typeface="Times New Roman" panose="02020603050405020304" charset="0"/>
                <a:ea typeface="Manrope SemiBold"/>
                <a:cs typeface="Times New Roman" panose="02020603050405020304" charset="0"/>
                <a:sym typeface="Manrope SemiBold"/>
              </a:rPr>
              <a:t>ow Does It Solve the Problem?</a:t>
            </a:r>
            <a:endParaRPr lang="en-US" altLang="en-US" sz="1200" b="1">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65000"/>
              </a:lnSpc>
              <a:spcBef>
                <a:spcPts val="1200"/>
              </a:spcBef>
              <a:spcAft>
                <a:spcPts val="1200"/>
              </a:spcAft>
              <a:buSzPts val="935"/>
              <a:buFont typeface="Arial" panose="020B0604020202020204" pitchFamily="34" charset="0"/>
              <a:buNone/>
            </a:pPr>
            <a:r>
              <a:rPr lang="en-US" altLang="en-US" sz="1200" b="1">
                <a:solidFill>
                  <a:srgbClr val="202729"/>
                </a:solidFill>
                <a:latin typeface="Times New Roman" panose="02020603050405020304" charset="0"/>
                <a:ea typeface="Manrope SemiBold"/>
                <a:cs typeface="Times New Roman" panose="02020603050405020304" charset="0"/>
                <a:sym typeface="Manrope SemiBold"/>
              </a:rPr>
              <a:t>3. The "Counterfactual" Engine</a:t>
            </a:r>
            <a:endParaRPr lang="en-US" altLang="en-US" sz="1200" b="1">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15000"/>
              </a:lnSpc>
              <a:spcBef>
                <a:spcPts val="1200"/>
              </a:spcBef>
              <a:spcAft>
                <a:spcPts val="1200"/>
              </a:spcAft>
              <a:buSzPts val="935"/>
              <a:buFont typeface="Arial" panose="020B0604020202020204" pitchFamily="34" charset="0"/>
              <a:buNone/>
            </a:pPr>
            <a:r>
              <a:rPr lang="en-US" altLang="en-US" sz="1200" b="1">
                <a:solidFill>
                  <a:srgbClr val="202729"/>
                </a:solidFill>
                <a:latin typeface="Times New Roman" panose="02020603050405020304" charset="0"/>
                <a:ea typeface="Manrope SemiBold"/>
                <a:cs typeface="Times New Roman" panose="02020603050405020304" charset="0"/>
                <a:sym typeface="Manrope SemiBold"/>
              </a:rPr>
              <a:t>Capability:</a:t>
            </a:r>
            <a:r>
              <a:rPr lang="en-US" altLang="en-US" sz="1200">
                <a:solidFill>
                  <a:srgbClr val="202729"/>
                </a:solidFill>
                <a:latin typeface="Times New Roman" panose="02020603050405020304" charset="0"/>
                <a:ea typeface="Manrope SemiBold"/>
                <a:cs typeface="Times New Roman" panose="02020603050405020304" charset="0"/>
                <a:sym typeface="Manrope SemiBold"/>
              </a:rPr>
              <a:t> Allows users to run "What-If" Scenarios.</a:t>
            </a:r>
            <a:endParaRPr lang="en-US" altLang="en-US" sz="1200">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15000"/>
              </a:lnSpc>
              <a:spcBef>
                <a:spcPts val="1200"/>
              </a:spcBef>
              <a:spcAft>
                <a:spcPts val="1200"/>
              </a:spcAft>
              <a:buSzPts val="935"/>
              <a:buFont typeface="Arial" panose="020B0604020202020204" pitchFamily="34" charset="0"/>
              <a:buNone/>
            </a:pPr>
            <a:r>
              <a:rPr lang="en-US" altLang="en-US" sz="1200" b="1">
                <a:solidFill>
                  <a:srgbClr val="202729"/>
                </a:solidFill>
                <a:latin typeface="Times New Roman" panose="02020603050405020304" charset="0"/>
                <a:ea typeface="Manrope SemiBold"/>
                <a:cs typeface="Times New Roman" panose="02020603050405020304" charset="0"/>
                <a:sym typeface="Manrope SemiBold"/>
              </a:rPr>
              <a:t>Example</a:t>
            </a:r>
            <a:r>
              <a:rPr lang="en-US" altLang="en-US" sz="1200">
                <a:solidFill>
                  <a:srgbClr val="202729"/>
                </a:solidFill>
                <a:latin typeface="Times New Roman" panose="02020603050405020304" charset="0"/>
                <a:ea typeface="Manrope SemiBold"/>
                <a:cs typeface="Times New Roman" panose="02020603050405020304" charset="0"/>
                <a:sym typeface="Manrope SemiBold"/>
              </a:rPr>
              <a:t>: "If I eat pizza now vs. tomorrow morning, how does my risk change?" </a:t>
            </a:r>
            <a:endParaRPr lang="en-US" altLang="en-US" sz="1200">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15000"/>
              </a:lnSpc>
              <a:spcBef>
                <a:spcPts val="1200"/>
              </a:spcBef>
              <a:spcAft>
                <a:spcPts val="1200"/>
              </a:spcAft>
              <a:buSzPts val="935"/>
              <a:buFont typeface="Arial" panose="020B0604020202020204" pitchFamily="34" charset="0"/>
              <a:buNone/>
            </a:pPr>
            <a:r>
              <a:rPr lang="en-US" altLang="en-US" sz="1200" b="1">
                <a:solidFill>
                  <a:srgbClr val="202729"/>
                </a:solidFill>
                <a:latin typeface="Times New Roman" panose="02020603050405020304" charset="0"/>
                <a:ea typeface="Manrope SemiBold"/>
                <a:cs typeface="Times New Roman" panose="02020603050405020304" charset="0"/>
                <a:sym typeface="Manrope SemiBold"/>
              </a:rPr>
              <a:t>Outcome</a:t>
            </a:r>
            <a:r>
              <a:rPr lang="en-US" altLang="en-US" sz="1200">
                <a:solidFill>
                  <a:srgbClr val="202729"/>
                </a:solidFill>
                <a:latin typeface="Times New Roman" panose="02020603050405020304" charset="0"/>
                <a:ea typeface="Manrope SemiBold"/>
                <a:cs typeface="Times New Roman" panose="02020603050405020304" charset="0"/>
                <a:sym typeface="Manrope SemiBold"/>
              </a:rPr>
              <a:t>: Empowering users to fail in the simulation so they can succeed in reality.</a:t>
            </a:r>
            <a:endParaRPr lang="en-US" altLang="en-US" sz="1200">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65000"/>
              </a:lnSpc>
              <a:spcBef>
                <a:spcPts val="1200"/>
              </a:spcBef>
              <a:spcAft>
                <a:spcPts val="1200"/>
              </a:spcAft>
              <a:buSzPts val="935"/>
              <a:buFont typeface="Arial" panose="020B0604020202020204" pitchFamily="34" charset="0"/>
              <a:buNone/>
            </a:pPr>
            <a:r>
              <a:rPr lang="en-US" altLang="en-US" sz="1200" b="1">
                <a:solidFill>
                  <a:srgbClr val="202729"/>
                </a:solidFill>
                <a:latin typeface="Times New Roman" panose="02020603050405020304" charset="0"/>
                <a:ea typeface="Manrope SemiBold"/>
                <a:cs typeface="Times New Roman" panose="02020603050405020304" charset="0"/>
                <a:sym typeface="Manrope SemiBold"/>
              </a:rPr>
              <a:t>4. Bridging the Specialist Gap </a:t>
            </a:r>
            <a:endParaRPr lang="en-US" altLang="en-US" sz="1200" b="1">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65000"/>
              </a:lnSpc>
              <a:spcBef>
                <a:spcPts val="1200"/>
              </a:spcBef>
              <a:spcAft>
                <a:spcPts val="1200"/>
              </a:spcAft>
              <a:buSzPts val="935"/>
              <a:buFont typeface="Arial" panose="020B0604020202020204" pitchFamily="34" charset="0"/>
              <a:buNone/>
            </a:pPr>
            <a:r>
              <a:rPr lang="en-US" altLang="en-US" sz="1200" b="1">
                <a:solidFill>
                  <a:srgbClr val="202729"/>
                </a:solidFill>
                <a:latin typeface="Times New Roman" panose="02020603050405020304" charset="0"/>
                <a:ea typeface="Manrope SemiBold"/>
                <a:cs typeface="Times New Roman" panose="02020603050405020304" charset="0"/>
                <a:sym typeface="Manrope SemiBold"/>
              </a:rPr>
              <a:t>The Reality</a:t>
            </a:r>
            <a:r>
              <a:rPr lang="en-US" altLang="en-US" sz="1200">
                <a:solidFill>
                  <a:srgbClr val="202729"/>
                </a:solidFill>
                <a:latin typeface="Times New Roman" panose="02020603050405020304" charset="0"/>
                <a:ea typeface="Manrope SemiBold"/>
                <a:cs typeface="Times New Roman" panose="02020603050405020304" charset="0"/>
                <a:sym typeface="Manrope SemiBold"/>
              </a:rPr>
              <a:t>: India faces a massive shortage of endocrinologists (1 for every ~50,000 diabetic/PCOS patients).</a:t>
            </a: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r>
              <a:rPr lang="en-US" altLang="en-US" sz="1200" b="1">
                <a:solidFill>
                  <a:srgbClr val="202729"/>
                </a:solidFill>
                <a:latin typeface="Times New Roman" panose="02020603050405020304" charset="0"/>
                <a:ea typeface="Manrope SemiBold"/>
                <a:cs typeface="Times New Roman" panose="02020603050405020304" charset="0"/>
                <a:sym typeface="Manrope SemiBold"/>
              </a:rPr>
              <a:t>The Solution</a:t>
            </a:r>
            <a:r>
              <a:rPr lang="en-US" altLang="en-US" sz="1200">
                <a:solidFill>
                  <a:srgbClr val="202729"/>
                </a:solidFill>
                <a:latin typeface="Times New Roman" panose="02020603050405020304" charset="0"/>
                <a:ea typeface="Manrope SemiBold"/>
                <a:cs typeface="Times New Roman" panose="02020603050405020304" charset="0"/>
                <a:sym typeface="Manrope SemiBold"/>
              </a:rPr>
              <a:t>: HormoneAI democratizes specialist-level care. It uses Amazon Bedrock to translate complex medical data into simple,</a:t>
            </a: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br>
              <a:rPr lang="en-US" altLang="en-US" sz="1200">
                <a:solidFill>
                  <a:srgbClr val="202729"/>
                </a:solidFill>
                <a:latin typeface="Times New Roman" panose="02020603050405020304" charset="0"/>
                <a:ea typeface="Manrope SemiBold"/>
                <a:cs typeface="Times New Roman" panose="02020603050405020304" charset="0"/>
                <a:sym typeface="Manrope SemiBold"/>
              </a:rPr>
            </a:br>
            <a:r>
              <a:rPr lang="en-US" altLang="en-US" sz="1200">
                <a:solidFill>
                  <a:srgbClr val="202729"/>
                </a:solidFill>
                <a:latin typeface="Times New Roman" panose="02020603050405020304" charset="0"/>
                <a:ea typeface="Manrope SemiBold"/>
                <a:cs typeface="Times New Roman" panose="02020603050405020304" charset="0"/>
                <a:sym typeface="Manrope SemiBold"/>
              </a:rPr>
              <a:t>vernacular insights, making precision health accessible to women across Tier-2 and Tier-3 cities.</a:t>
            </a:r>
            <a:endParaRPr lang="en-US" altLang="en-US" sz="1200">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65000"/>
              </a:lnSpc>
              <a:spcBef>
                <a:spcPts val="1200"/>
              </a:spcBef>
              <a:spcAft>
                <a:spcPts val="1200"/>
              </a:spcAft>
              <a:buSzPts val="935"/>
              <a:buFont typeface="Arial" panose="020B0604020202020204" pitchFamily="34" charset="0"/>
              <a:buNone/>
            </a:pPr>
            <a:endParaRPr lang="en-US" altLang="en-US" sz="1200">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115000"/>
              </a:lnSpc>
              <a:spcBef>
                <a:spcPts val="1200"/>
              </a:spcBef>
              <a:spcAft>
                <a:spcPts val="1200"/>
              </a:spcAft>
              <a:buSzPts val="935"/>
              <a:buFont typeface="Arial" panose="020B0604020202020204" pitchFamily="34" charset="0"/>
              <a:buNone/>
            </a:pPr>
            <a:endParaRPr lang="en-US" altLang="en-US" sz="1200">
              <a:solidFill>
                <a:srgbClr val="202729"/>
              </a:solidFill>
              <a:latin typeface="Times New Roman" panose="02020603050405020304" charset="0"/>
              <a:ea typeface="Manrope SemiBold"/>
              <a:cs typeface="Times New Roman" panose="02020603050405020304" charset="0"/>
              <a:sym typeface="Manrope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7"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69" name="Google Shape;69;p15"/>
          <p:cNvSpPr txBox="1"/>
          <p:nvPr/>
        </p:nvSpPr>
        <p:spPr>
          <a:xfrm>
            <a:off x="81280" y="448945"/>
            <a:ext cx="8592820" cy="5888355"/>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1200"/>
              </a:spcBef>
              <a:spcAft>
                <a:spcPts val="1200"/>
              </a:spcAft>
              <a:buSzPts val="935"/>
              <a:buNone/>
            </a:pPr>
            <a:r>
              <a:rPr lang="en-US" altLang="en-US" b="1">
                <a:solidFill>
                  <a:srgbClr val="202729"/>
                </a:solidFill>
                <a:latin typeface="Times New Roman" panose="02020603050405020304" charset="0"/>
                <a:ea typeface="Manrope SemiBold"/>
                <a:cs typeface="Times New Roman" panose="02020603050405020304" charset="0"/>
                <a:sym typeface="Manrope SemiBold"/>
              </a:rPr>
              <a:t>Predictive Simulation vs Traditional Health Tracking</a:t>
            </a:r>
            <a:r>
              <a:rPr lang="en-IN" altLang="en-US" b="1">
                <a:solidFill>
                  <a:srgbClr val="202729"/>
                </a:solidFill>
                <a:latin typeface="Times New Roman" panose="02020603050405020304" charset="0"/>
                <a:ea typeface="Manrope SemiBold"/>
                <a:cs typeface="Times New Roman" panose="02020603050405020304" charset="0"/>
                <a:sym typeface="Manrope SemiBold"/>
              </a:rPr>
              <a:t>:</a:t>
            </a:r>
            <a:endParaRPr lang="en-IN" altLang="en-US" b="1">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115000"/>
              </a:lnSpc>
              <a:spcBef>
                <a:spcPts val="1200"/>
              </a:spcBef>
              <a:spcAft>
                <a:spcPts val="1200"/>
              </a:spcAft>
              <a:buSzPts val="935"/>
              <a:buFont typeface="Arial" panose="020B0604020202020204" pitchFamily="34" charset="0"/>
              <a:buNone/>
            </a:pPr>
            <a:endParaRPr lang="en-US" altLang="en-US" sz="1200">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115000"/>
              </a:lnSpc>
              <a:spcBef>
                <a:spcPts val="1200"/>
              </a:spcBef>
              <a:spcAft>
                <a:spcPts val="1200"/>
              </a:spcAft>
              <a:buSzPts val="935"/>
              <a:buFont typeface="Arial" panose="020B0604020202020204" pitchFamily="34" charset="0"/>
              <a:buNone/>
            </a:pPr>
            <a:endParaRPr lang="en-US" altLang="en-US" sz="1200">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115000"/>
              </a:lnSpc>
              <a:spcBef>
                <a:spcPts val="1200"/>
              </a:spcBef>
              <a:spcAft>
                <a:spcPts val="1200"/>
              </a:spcAft>
              <a:buSzPts val="935"/>
              <a:buFont typeface="Arial" panose="020B0604020202020204" pitchFamily="34" charset="0"/>
              <a:buNone/>
            </a:pPr>
            <a:endParaRPr lang="en-US" altLang="en-US" sz="1200">
              <a:solidFill>
                <a:srgbClr val="202729"/>
              </a:solidFill>
              <a:latin typeface="Times New Roman" panose="02020603050405020304" charset="0"/>
              <a:ea typeface="Manrope SemiBold"/>
              <a:cs typeface="Times New Roman" panose="02020603050405020304" charset="0"/>
              <a:sym typeface="Manrope SemiBold"/>
            </a:endParaRPr>
          </a:p>
          <a:p>
            <a:pPr marL="0" lvl="0" indent="0" algn="l" rtl="0">
              <a:lnSpc>
                <a:spcPct val="115000"/>
              </a:lnSpc>
              <a:spcBef>
                <a:spcPts val="1200"/>
              </a:spcBef>
              <a:spcAft>
                <a:spcPts val="1200"/>
              </a:spcAft>
              <a:buSzPts val="935"/>
              <a:buFont typeface="Arial" panose="020B0604020202020204" pitchFamily="34" charset="0"/>
              <a:buNone/>
            </a:pPr>
            <a:r>
              <a:rPr lang="en-IN" altLang="en-US" sz="1200">
                <a:solidFill>
                  <a:srgbClr val="202729"/>
                </a:solidFill>
                <a:latin typeface="Times New Roman" panose="02020603050405020304" charset="0"/>
                <a:ea typeface="Manrope SemiBold"/>
                <a:cs typeface="Times New Roman" panose="02020603050405020304" charset="0"/>
                <a:sym typeface="Manrope SemiBold"/>
              </a:rPr>
              <a:t>                                                                                                   </a:t>
            </a:r>
            <a:r>
              <a:rPr lang="en-IN" altLang="en-US" b="1">
                <a:solidFill>
                  <a:srgbClr val="202729"/>
                </a:solidFill>
                <a:latin typeface="Times New Roman" panose="02020603050405020304" charset="0"/>
                <a:ea typeface="Manrope SemiBold"/>
                <a:cs typeface="Times New Roman" panose="02020603050405020304" charset="0"/>
                <a:sym typeface="Manrope SemiBold"/>
              </a:rPr>
              <a:t>VS</a:t>
            </a:r>
            <a:endParaRPr lang="en-IN" altLang="en-US" b="1">
              <a:solidFill>
                <a:srgbClr val="202729"/>
              </a:solidFill>
              <a:latin typeface="Times New Roman" panose="02020603050405020304" charset="0"/>
              <a:ea typeface="Manrope SemiBold"/>
              <a:cs typeface="Times New Roman" panose="02020603050405020304" charset="0"/>
              <a:sym typeface="Manrope SemiBold"/>
            </a:endParaRPr>
          </a:p>
        </p:txBody>
      </p:sp>
      <p:pic>
        <p:nvPicPr>
          <p:cNvPr id="2" name="Picture 1"/>
          <p:cNvPicPr>
            <a:picLocks noChangeAspect="1"/>
          </p:cNvPicPr>
          <p:nvPr/>
        </p:nvPicPr>
        <p:blipFill>
          <a:blip r:embed="rId2"/>
          <a:stretch>
            <a:fillRect/>
          </a:stretch>
        </p:blipFill>
        <p:spPr>
          <a:xfrm>
            <a:off x="4794250" y="747395"/>
            <a:ext cx="2962275" cy="4221480"/>
          </a:xfrm>
          <a:prstGeom prst="rect">
            <a:avLst/>
          </a:prstGeom>
        </p:spPr>
      </p:pic>
      <p:pic>
        <p:nvPicPr>
          <p:cNvPr id="3" name="Picture 2"/>
          <p:cNvPicPr>
            <a:picLocks noChangeAspect="1"/>
          </p:cNvPicPr>
          <p:nvPr/>
        </p:nvPicPr>
        <p:blipFill>
          <a:blip r:embed="rId3"/>
          <a:stretch>
            <a:fillRect/>
          </a:stretch>
        </p:blipFill>
        <p:spPr>
          <a:xfrm>
            <a:off x="1090295" y="747395"/>
            <a:ext cx="2523490" cy="42849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7"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69" name="Google Shape;69;p15"/>
          <p:cNvSpPr txBox="1"/>
          <p:nvPr/>
        </p:nvSpPr>
        <p:spPr>
          <a:xfrm>
            <a:off x="205740" y="456565"/>
            <a:ext cx="8338185" cy="4620895"/>
          </a:xfrm>
          <a:prstGeom prst="rect">
            <a:avLst/>
          </a:prstGeom>
          <a:noFill/>
          <a:ln>
            <a:noFill/>
          </a:ln>
        </p:spPr>
        <p:txBody>
          <a:bodyPr spcFirstLastPara="1" wrap="square" lIns="91425" tIns="91425" rIns="91425" bIns="91425" anchor="t" anchorCtr="0">
            <a:noAutofit/>
          </a:bodyPr>
          <a:lstStyle/>
          <a:p>
            <a:pPr marL="127000" lvl="0" indent="0" algn="l" rtl="0">
              <a:lnSpc>
                <a:spcPct val="115000"/>
              </a:lnSpc>
              <a:spcBef>
                <a:spcPts val="0"/>
              </a:spcBef>
              <a:spcAft>
                <a:spcPts val="0"/>
              </a:spcAft>
              <a:buClr>
                <a:srgbClr val="202729"/>
              </a:buClr>
              <a:buSzPts val="1600"/>
              <a:buFont typeface="Manrope SemiBold"/>
              <a:buNone/>
            </a:pPr>
            <a:r>
              <a:rPr lang="en-GB" b="1">
                <a:solidFill>
                  <a:srgbClr val="202729"/>
                </a:solidFill>
                <a:latin typeface="Times New Roman" panose="02020603050405020304" charset="0"/>
                <a:ea typeface="Manrope SemiBold"/>
                <a:cs typeface="Times New Roman" panose="02020603050405020304" charset="0"/>
                <a:sym typeface="Manrope SemiBold"/>
              </a:rPr>
              <a:t>USP of the proposed solution</a:t>
            </a:r>
            <a:r>
              <a:rPr lang="en-IN" altLang="en-GB" b="1">
                <a:solidFill>
                  <a:srgbClr val="202729"/>
                </a:solidFill>
                <a:latin typeface="Times New Roman" panose="02020603050405020304" charset="0"/>
                <a:ea typeface="Manrope SemiBold"/>
                <a:cs typeface="Times New Roman" panose="02020603050405020304" charset="0"/>
                <a:sym typeface="Manrope SemiBold"/>
              </a:rPr>
              <a:t>: </a:t>
            </a:r>
            <a:endParaRPr lang="en-IN" altLang="en-GB" b="1">
              <a:solidFill>
                <a:srgbClr val="202729"/>
              </a:solidFill>
              <a:latin typeface="Times New Roman" panose="02020603050405020304" charset="0"/>
              <a:ea typeface="Manrope SemiBold"/>
              <a:cs typeface="Times New Roman" panose="02020603050405020304" charset="0"/>
              <a:sym typeface="Manrope SemiBold"/>
            </a:endParaRPr>
          </a:p>
          <a:p>
            <a:pPr marL="127000" lvl="0" indent="0" algn="l" rtl="0">
              <a:lnSpc>
                <a:spcPct val="75000"/>
              </a:lnSpc>
              <a:spcBef>
                <a:spcPts val="0"/>
              </a:spcBef>
              <a:spcAft>
                <a:spcPts val="0"/>
              </a:spcAft>
              <a:buClr>
                <a:srgbClr val="202729"/>
              </a:buClr>
              <a:buSzPts val="1600"/>
              <a:buFont typeface="Manrope SemiBold"/>
              <a:buNone/>
            </a:pPr>
            <a:endParaRPr lang="en-GB">
              <a:solidFill>
                <a:srgbClr val="202729"/>
              </a:solidFill>
              <a:latin typeface="Times New Roman" panose="02020603050405020304" charset="0"/>
              <a:ea typeface="Manrope SemiBold"/>
              <a:cs typeface="Times New Roman" panose="02020603050405020304" charset="0"/>
              <a:sym typeface="Manrope SemiBold"/>
            </a:endParaRPr>
          </a:p>
          <a:p>
            <a:pPr marL="412750" lvl="0" indent="-285750" algn="l" rtl="0">
              <a:lnSpc>
                <a:spcPct val="75000"/>
              </a:lnSpc>
              <a:spcBef>
                <a:spcPts val="0"/>
              </a:spcBef>
              <a:spcAft>
                <a:spcPts val="0"/>
              </a:spcAft>
              <a:buClr>
                <a:srgbClr val="202729"/>
              </a:buClr>
              <a:buSzPts val="1600"/>
              <a:buFont typeface="Arial" panose="020B0604020202020204" pitchFamily="34" charset="0"/>
              <a:buChar char="•"/>
            </a:pPr>
            <a:r>
              <a:rPr lang="en-US" altLang="en-US" sz="1300" b="1">
                <a:solidFill>
                  <a:srgbClr val="202729"/>
                </a:solidFill>
                <a:latin typeface="Times New Roman" panose="02020603050405020304" charset="0"/>
                <a:ea typeface="Manrope SemiBold"/>
                <a:cs typeface="Times New Roman" panose="02020603050405020304" charset="0"/>
                <a:sym typeface="Manrope SemiBold"/>
              </a:rPr>
              <a:t>From Hindsight to Foresight:</a:t>
            </a:r>
            <a:r>
              <a:rPr lang="en-US" altLang="en-US" sz="1300">
                <a:solidFill>
                  <a:srgbClr val="202729"/>
                </a:solidFill>
                <a:latin typeface="Times New Roman" panose="02020603050405020304" charset="0"/>
                <a:ea typeface="Manrope SemiBold"/>
                <a:cs typeface="Times New Roman" panose="02020603050405020304" charset="0"/>
                <a:sym typeface="Manrope SemiBold"/>
              </a:rPr>
              <a:t> The world's first metabolic "Flight Simulator" that predicts glucose spikes before they happen.</a:t>
            </a:r>
            <a:endParaRPr lang="en-US" altLang="en-US" sz="1300">
              <a:solidFill>
                <a:srgbClr val="202729"/>
              </a:solidFill>
              <a:latin typeface="Times New Roman" panose="02020603050405020304" charset="0"/>
              <a:ea typeface="Manrope SemiBold"/>
              <a:cs typeface="Times New Roman" panose="02020603050405020304" charset="0"/>
              <a:sym typeface="Manrope SemiBold"/>
            </a:endParaRPr>
          </a:p>
          <a:p>
            <a:pPr marL="412750" lvl="0" indent="-285750" algn="l" rtl="0">
              <a:lnSpc>
                <a:spcPct val="75000"/>
              </a:lnSpc>
              <a:spcBef>
                <a:spcPts val="0"/>
              </a:spcBef>
              <a:spcAft>
                <a:spcPts val="0"/>
              </a:spcAft>
              <a:buClr>
                <a:srgbClr val="202729"/>
              </a:buClr>
              <a:buSzPts val="1600"/>
              <a:buFont typeface="Arial" panose="020B0604020202020204" pitchFamily="34" charset="0"/>
              <a:buChar char="•"/>
            </a:pPr>
            <a:endParaRPr lang="en-US" altLang="en-US" sz="1300">
              <a:solidFill>
                <a:srgbClr val="202729"/>
              </a:solidFill>
              <a:latin typeface="Times New Roman" panose="02020603050405020304" charset="0"/>
              <a:ea typeface="Manrope SemiBold"/>
              <a:cs typeface="Times New Roman" panose="02020603050405020304" charset="0"/>
              <a:sym typeface="Manrope SemiBold"/>
            </a:endParaRPr>
          </a:p>
          <a:p>
            <a:pPr marL="412750" lvl="0" indent="-285750" algn="l" rtl="0">
              <a:lnSpc>
                <a:spcPct val="75000"/>
              </a:lnSpc>
              <a:spcBef>
                <a:spcPts val="0"/>
              </a:spcBef>
              <a:spcAft>
                <a:spcPts val="0"/>
              </a:spcAft>
              <a:buClr>
                <a:srgbClr val="202729"/>
              </a:buClr>
              <a:buSzPts val="1600"/>
              <a:buFont typeface="Arial" panose="020B0604020202020204" pitchFamily="34" charset="0"/>
              <a:buChar char="•"/>
            </a:pPr>
            <a:r>
              <a:rPr lang="en-US" altLang="en-US" sz="1300" b="1">
                <a:solidFill>
                  <a:srgbClr val="202729"/>
                </a:solidFill>
                <a:latin typeface="Times New Roman" panose="02020603050405020304" charset="0"/>
                <a:ea typeface="Manrope SemiBold"/>
                <a:cs typeface="Times New Roman" panose="02020603050405020304" charset="0"/>
                <a:sym typeface="Manrope SemiBold"/>
              </a:rPr>
              <a:t>Hyper-Personalized RAG:</a:t>
            </a:r>
            <a:r>
              <a:rPr lang="en-US" altLang="en-US" sz="1300">
                <a:solidFill>
                  <a:srgbClr val="202729"/>
                </a:solidFill>
                <a:latin typeface="Times New Roman" panose="02020603050405020304" charset="0"/>
                <a:ea typeface="Manrope SemiBold"/>
                <a:cs typeface="Times New Roman" panose="02020603050405020304" charset="0"/>
                <a:sym typeface="Manrope SemiBold"/>
              </a:rPr>
              <a:t> Uses Retrieval Augmented Generation to "remember" your unique biological history, not just general medical data.</a:t>
            </a:r>
            <a:endParaRPr lang="en-US" altLang="en-US" sz="1300">
              <a:solidFill>
                <a:srgbClr val="202729"/>
              </a:solidFill>
              <a:latin typeface="Times New Roman" panose="02020603050405020304" charset="0"/>
              <a:ea typeface="Manrope SemiBold"/>
              <a:cs typeface="Times New Roman" panose="02020603050405020304" charset="0"/>
              <a:sym typeface="Manrope SemiBold"/>
            </a:endParaRPr>
          </a:p>
          <a:p>
            <a:pPr marL="412750" lvl="0" indent="-285750" algn="l" rtl="0">
              <a:lnSpc>
                <a:spcPct val="75000"/>
              </a:lnSpc>
              <a:spcBef>
                <a:spcPts val="0"/>
              </a:spcBef>
              <a:spcAft>
                <a:spcPts val="0"/>
              </a:spcAft>
              <a:buClr>
                <a:srgbClr val="202729"/>
              </a:buClr>
              <a:buSzPts val="1600"/>
              <a:buFont typeface="Arial" panose="020B0604020202020204" pitchFamily="34" charset="0"/>
              <a:buChar char="•"/>
            </a:pPr>
            <a:endParaRPr lang="en-US" altLang="en-US" sz="1300">
              <a:solidFill>
                <a:srgbClr val="202729"/>
              </a:solidFill>
              <a:latin typeface="Times New Roman" panose="02020603050405020304" charset="0"/>
              <a:ea typeface="Manrope SemiBold"/>
              <a:cs typeface="Times New Roman" panose="02020603050405020304" charset="0"/>
              <a:sym typeface="Manrope SemiBold"/>
            </a:endParaRPr>
          </a:p>
          <a:p>
            <a:pPr marL="412750" lvl="0" indent="-285750" algn="l" rtl="0">
              <a:lnSpc>
                <a:spcPct val="75000"/>
              </a:lnSpc>
              <a:spcBef>
                <a:spcPts val="0"/>
              </a:spcBef>
              <a:spcAft>
                <a:spcPts val="0"/>
              </a:spcAft>
              <a:buClr>
                <a:srgbClr val="202729"/>
              </a:buClr>
              <a:buSzPts val="1600"/>
              <a:buFont typeface="Arial" panose="020B0604020202020204" pitchFamily="34" charset="0"/>
              <a:buChar char="•"/>
            </a:pPr>
            <a:r>
              <a:rPr lang="en-US" altLang="en-US" sz="1300" b="1">
                <a:solidFill>
                  <a:srgbClr val="202729"/>
                </a:solidFill>
                <a:latin typeface="Times New Roman" panose="02020603050405020304" charset="0"/>
                <a:ea typeface="Manrope SemiBold"/>
                <a:cs typeface="Times New Roman" panose="02020603050405020304" charset="0"/>
                <a:sym typeface="Manrope SemiBold"/>
              </a:rPr>
              <a:t>Responsible AI Core:</a:t>
            </a:r>
            <a:r>
              <a:rPr lang="en-US" altLang="en-US" sz="1300">
                <a:solidFill>
                  <a:srgbClr val="202729"/>
                </a:solidFill>
                <a:latin typeface="Times New Roman" panose="02020603050405020304" charset="0"/>
                <a:ea typeface="Manrope SemiBold"/>
                <a:cs typeface="Times New Roman" panose="02020603050405020304" charset="0"/>
                <a:sym typeface="Manrope SemiBold"/>
              </a:rPr>
              <a:t> Built on AWS Bedrock Guardrails for trusted, safe, and ethical health guidance.</a:t>
            </a:r>
            <a:endParaRPr lang="en-US" altLang="en-US" sz="1300">
              <a:solidFill>
                <a:srgbClr val="202729"/>
              </a:solidFill>
              <a:latin typeface="Times New Roman" panose="02020603050405020304" charset="0"/>
              <a:ea typeface="Manrope SemiBold"/>
              <a:cs typeface="Times New Roman" panose="02020603050405020304" charset="0"/>
              <a:sym typeface="Manrope SemiBold"/>
            </a:endParaRPr>
          </a:p>
          <a:p>
            <a:pPr marL="127000" lvl="0" indent="0" algn="l" rtl="0">
              <a:lnSpc>
                <a:spcPct val="75000"/>
              </a:lnSpc>
              <a:spcBef>
                <a:spcPts val="0"/>
              </a:spcBef>
              <a:spcAft>
                <a:spcPts val="0"/>
              </a:spcAft>
              <a:buClr>
                <a:srgbClr val="202729"/>
              </a:buClr>
              <a:buSzPts val="1600"/>
              <a:buFont typeface="Arial" panose="020B0604020202020204" pitchFamily="34" charset="0"/>
              <a:buNone/>
            </a:pPr>
            <a:endParaRPr lang="en-US" altLang="en-US" sz="1300">
              <a:solidFill>
                <a:srgbClr val="202729"/>
              </a:solidFill>
              <a:latin typeface="Times New Roman" panose="02020603050405020304" charset="0"/>
              <a:ea typeface="Manrope SemiBold"/>
              <a:cs typeface="Times New Roman" panose="02020603050405020304" charset="0"/>
              <a:sym typeface="Manrope SemiBold"/>
            </a:endParaRPr>
          </a:p>
        </p:txBody>
      </p:sp>
      <p:pic>
        <p:nvPicPr>
          <p:cNvPr id="2" name="Picture 1" descr="Untitled diagram-2026-02-15-152723"/>
          <p:cNvPicPr>
            <a:picLocks noChangeAspect="1"/>
          </p:cNvPicPr>
          <p:nvPr/>
        </p:nvPicPr>
        <p:blipFill>
          <a:blip r:embed="rId2"/>
          <a:stretch>
            <a:fillRect/>
          </a:stretch>
        </p:blipFill>
        <p:spPr>
          <a:xfrm>
            <a:off x="205740" y="2639060"/>
            <a:ext cx="8767445" cy="19094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73" name="Shape 73"/>
        <p:cNvGrpSpPr/>
        <p:nvPr/>
      </p:nvGrpSpPr>
      <p:grpSpPr>
        <a:xfrm>
          <a:off x="0" y="0"/>
          <a:ext cx="0" cy="0"/>
          <a:chOff x="0" y="0"/>
          <a:chExt cx="0" cy="0"/>
        </a:xfrm>
      </p:grpSpPr>
      <p:pic>
        <p:nvPicPr>
          <p:cNvPr id="74" name="Google Shape;74;p16"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75" name="Google Shape;75;p16"/>
          <p:cNvSpPr txBox="1"/>
          <p:nvPr/>
        </p:nvSpPr>
        <p:spPr>
          <a:xfrm>
            <a:off x="0" y="521970"/>
            <a:ext cx="8902065" cy="445071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35"/>
              <a:buNone/>
            </a:pPr>
            <a:r>
              <a:rPr lang="en-GB" b="1">
                <a:solidFill>
                  <a:srgbClr val="202729"/>
                </a:solidFill>
                <a:latin typeface="Times New Roman" panose="02020603050405020304" charset="0"/>
                <a:ea typeface="Manrope"/>
                <a:cs typeface="Times New Roman" panose="02020603050405020304" charset="0"/>
                <a:sym typeface="Manrope"/>
              </a:rPr>
              <a:t>List of features offered by the solution</a:t>
            </a:r>
            <a:r>
              <a:rPr lang="en-IN" altLang="en-GB" b="1">
                <a:solidFill>
                  <a:srgbClr val="202729"/>
                </a:solidFill>
                <a:latin typeface="Times New Roman" panose="02020603050405020304" charset="0"/>
                <a:ea typeface="Manrope"/>
                <a:cs typeface="Times New Roman" panose="02020603050405020304" charset="0"/>
                <a:sym typeface="Manrope"/>
              </a:rPr>
              <a:t>:</a:t>
            </a:r>
            <a:endParaRPr b="1">
              <a:solidFill>
                <a:srgbClr val="202729"/>
              </a:solidFill>
              <a:latin typeface="Times New Roman" panose="02020603050405020304" charset="0"/>
              <a:ea typeface="Manrope"/>
              <a:cs typeface="Times New Roman" panose="02020603050405020304" charset="0"/>
              <a:sym typeface="Manrope"/>
            </a:endParaRPr>
          </a:p>
          <a:p>
            <a:pPr marL="171450" lvl="0" indent="-171450" algn="l" rtl="0">
              <a:lnSpc>
                <a:spcPct val="95000"/>
              </a:lnSpc>
              <a:spcBef>
                <a:spcPts val="1200"/>
              </a:spcBef>
              <a:spcAft>
                <a:spcPts val="1200"/>
              </a:spcAft>
              <a:buSzPts val="935"/>
              <a:buFont typeface="Arial" panose="020B0604020202020204" pitchFamily="34" charset="0"/>
              <a:buChar char="•"/>
            </a:pPr>
            <a:r>
              <a:rPr lang="en-US" altLang="en-US" sz="1200" b="1">
                <a:solidFill>
                  <a:schemeClr val="tx1"/>
                </a:solidFill>
                <a:latin typeface="Times New Roman" panose="02020603050405020304" charset="0"/>
                <a:ea typeface="Manrope"/>
                <a:cs typeface="Times New Roman" panose="02020603050405020304" charset="0"/>
                <a:sym typeface="Manrope"/>
              </a:rPr>
              <a:t>Pre-Meal "Flash Forward" Simulation</a:t>
            </a:r>
            <a:r>
              <a:rPr lang="en-IN" altLang="en-US" sz="1200" b="1">
                <a:solidFill>
                  <a:schemeClr val="tx1"/>
                </a:solidFill>
                <a:latin typeface="Times New Roman" panose="02020603050405020304" charset="0"/>
                <a:ea typeface="Manrope"/>
                <a:cs typeface="Times New Roman" panose="02020603050405020304" charset="0"/>
                <a:sym typeface="Manrope"/>
              </a:rPr>
              <a:t> </a:t>
            </a:r>
            <a:r>
              <a:rPr lang="en-IN" altLang="en-US" sz="1200">
                <a:solidFill>
                  <a:schemeClr val="tx1"/>
                </a:solidFill>
                <a:latin typeface="Times New Roman" panose="02020603050405020304" charset="0"/>
                <a:ea typeface="Manrope"/>
                <a:cs typeface="Times New Roman" panose="02020603050405020304" charset="0"/>
                <a:sym typeface="Manrope"/>
              </a:rPr>
              <a:t>- </a:t>
            </a:r>
            <a:r>
              <a:rPr lang="en-US" altLang="en-US" sz="1200">
                <a:solidFill>
                  <a:schemeClr val="tx1"/>
                </a:solidFill>
                <a:latin typeface="Times New Roman" panose="02020603050405020304" charset="0"/>
                <a:ea typeface="Manrope"/>
                <a:cs typeface="Times New Roman" panose="02020603050405020304" charset="0"/>
                <a:sym typeface="Manrope"/>
              </a:rPr>
              <a:t>Allows users to "test drive" a meal before eating it. The AI predicts the metabolic cost (e.g., "High Glucose Spike") based on current stress and sleep levels.</a:t>
            </a:r>
            <a:endParaRPr lang="en-US" altLang="en-US" sz="1200">
              <a:solidFill>
                <a:schemeClr val="tx1"/>
              </a:solidFill>
              <a:latin typeface="Times New Roman" panose="02020603050405020304" charset="0"/>
              <a:ea typeface="Manrope"/>
              <a:cs typeface="Times New Roman" panose="02020603050405020304" charset="0"/>
              <a:sym typeface="Manrope"/>
            </a:endParaRPr>
          </a:p>
          <a:p>
            <a:pPr marL="171450" lvl="0" indent="-171450" algn="l" rtl="0">
              <a:lnSpc>
                <a:spcPct val="95000"/>
              </a:lnSpc>
              <a:spcBef>
                <a:spcPts val="1200"/>
              </a:spcBef>
              <a:spcAft>
                <a:spcPts val="1200"/>
              </a:spcAft>
              <a:buSzPts val="935"/>
              <a:buFont typeface="Arial" panose="020B0604020202020204" pitchFamily="34" charset="0"/>
              <a:buChar char="•"/>
            </a:pPr>
            <a:r>
              <a:rPr lang="en-US" altLang="en-US" sz="1200" b="1">
                <a:solidFill>
                  <a:schemeClr val="tx1"/>
                </a:solidFill>
                <a:latin typeface="Times New Roman" panose="02020603050405020304" charset="0"/>
                <a:ea typeface="Manrope"/>
                <a:cs typeface="Times New Roman" panose="02020603050405020304" charset="0"/>
                <a:sym typeface="Manrope"/>
              </a:rPr>
              <a:t>Context-Aware RAG Engine</a:t>
            </a:r>
            <a:r>
              <a:rPr lang="en-IN" altLang="en-US" sz="1200" b="1">
                <a:solidFill>
                  <a:schemeClr val="tx1"/>
                </a:solidFill>
                <a:latin typeface="Times New Roman" panose="02020603050405020304" charset="0"/>
                <a:ea typeface="Manrope"/>
                <a:cs typeface="Times New Roman" panose="02020603050405020304" charset="0"/>
                <a:sym typeface="Manrope"/>
              </a:rPr>
              <a:t> -</a:t>
            </a:r>
            <a:r>
              <a:rPr lang="en-IN" altLang="en-US" sz="1200">
                <a:solidFill>
                  <a:schemeClr val="tx1"/>
                </a:solidFill>
                <a:latin typeface="Times New Roman" panose="02020603050405020304" charset="0"/>
                <a:ea typeface="Manrope"/>
                <a:cs typeface="Times New Roman" panose="02020603050405020304" charset="0"/>
                <a:sym typeface="Manrope"/>
              </a:rPr>
              <a:t> </a:t>
            </a:r>
            <a:r>
              <a:rPr lang="en-US" altLang="en-US" sz="1200">
                <a:solidFill>
                  <a:schemeClr val="tx1"/>
                </a:solidFill>
                <a:latin typeface="Times New Roman" panose="02020603050405020304" charset="0"/>
                <a:ea typeface="Manrope"/>
                <a:cs typeface="Times New Roman" panose="02020603050405020304" charset="0"/>
                <a:sym typeface="Manrope"/>
              </a:rPr>
              <a:t>Unlike generic apps, HormoneLens retrieves your specific historical data (e.g., "You spike on rice, but not on wheat") to personalize every prediction.</a:t>
            </a:r>
            <a:endParaRPr lang="en-US" altLang="en-US" sz="1200">
              <a:solidFill>
                <a:schemeClr val="tx1"/>
              </a:solidFill>
              <a:latin typeface="Times New Roman" panose="02020603050405020304" charset="0"/>
              <a:ea typeface="Manrope"/>
              <a:cs typeface="Times New Roman" panose="02020603050405020304" charset="0"/>
              <a:sym typeface="Manrope"/>
            </a:endParaRPr>
          </a:p>
          <a:p>
            <a:pPr marL="171450" lvl="0" indent="-171450" algn="l" rtl="0">
              <a:lnSpc>
                <a:spcPct val="95000"/>
              </a:lnSpc>
              <a:spcBef>
                <a:spcPts val="1200"/>
              </a:spcBef>
              <a:spcAft>
                <a:spcPts val="1200"/>
              </a:spcAft>
              <a:buSzPts val="935"/>
              <a:buFont typeface="Arial" panose="020B0604020202020204" pitchFamily="34" charset="0"/>
              <a:buChar char="•"/>
            </a:pPr>
            <a:r>
              <a:rPr lang="en-US" altLang="en-US" sz="1200" b="1">
                <a:solidFill>
                  <a:schemeClr val="tx1"/>
                </a:solidFill>
                <a:latin typeface="Times New Roman" panose="02020603050405020304" charset="0"/>
                <a:ea typeface="Manrope"/>
                <a:cs typeface="Times New Roman" panose="02020603050405020304" charset="0"/>
                <a:sym typeface="Manrope"/>
              </a:rPr>
              <a:t>Dynamic Metabolic Risk Score</a:t>
            </a:r>
            <a:r>
              <a:rPr lang="en-IN" altLang="en-US" sz="1200">
                <a:solidFill>
                  <a:schemeClr val="tx1"/>
                </a:solidFill>
                <a:latin typeface="Times New Roman" panose="02020603050405020304" charset="0"/>
                <a:ea typeface="Manrope"/>
                <a:cs typeface="Times New Roman" panose="02020603050405020304" charset="0"/>
                <a:sym typeface="Manrope"/>
              </a:rPr>
              <a:t> - </a:t>
            </a:r>
            <a:r>
              <a:rPr lang="en-US" altLang="en-US" sz="1200">
                <a:solidFill>
                  <a:schemeClr val="tx1"/>
                </a:solidFill>
                <a:latin typeface="Times New Roman" panose="02020603050405020304" charset="0"/>
                <a:ea typeface="Manrope"/>
                <a:cs typeface="Times New Roman" panose="02020603050405020304" charset="0"/>
                <a:sym typeface="Manrope"/>
              </a:rPr>
              <a:t>A real-time, multivariate score (Low/Medium/High) that updates instantly as your sleep, stress, or diet inputs change throughout the day.</a:t>
            </a:r>
            <a:endParaRPr lang="en-US" altLang="en-US" sz="1200">
              <a:solidFill>
                <a:schemeClr val="tx1"/>
              </a:solidFill>
              <a:latin typeface="Times New Roman" panose="02020603050405020304" charset="0"/>
              <a:ea typeface="Manrope"/>
              <a:cs typeface="Times New Roman" panose="02020603050405020304" charset="0"/>
              <a:sym typeface="Manrope"/>
            </a:endParaRPr>
          </a:p>
          <a:p>
            <a:pPr marL="171450" lvl="0" indent="-171450" algn="l" rtl="0">
              <a:lnSpc>
                <a:spcPct val="95000"/>
              </a:lnSpc>
              <a:spcBef>
                <a:spcPts val="1200"/>
              </a:spcBef>
              <a:spcAft>
                <a:spcPts val="1200"/>
              </a:spcAft>
              <a:buSzPts val="935"/>
              <a:buFont typeface="Arial" panose="020B0604020202020204" pitchFamily="34" charset="0"/>
              <a:buChar char="•"/>
            </a:pPr>
            <a:r>
              <a:rPr lang="en-US" altLang="en-US" sz="1200" b="1">
                <a:solidFill>
                  <a:schemeClr val="tx1"/>
                </a:solidFill>
                <a:latin typeface="Times New Roman" panose="02020603050405020304" charset="0"/>
                <a:ea typeface="Manrope"/>
                <a:cs typeface="Times New Roman" panose="02020603050405020304" charset="0"/>
                <a:sym typeface="Manrope"/>
              </a:rPr>
              <a:t>Explainable AI Insights</a:t>
            </a:r>
            <a:r>
              <a:rPr lang="en-IN" altLang="en-US" sz="1200" b="1">
                <a:solidFill>
                  <a:schemeClr val="tx1"/>
                </a:solidFill>
                <a:latin typeface="Times New Roman" panose="02020603050405020304" charset="0"/>
                <a:ea typeface="Manrope"/>
                <a:cs typeface="Times New Roman" panose="02020603050405020304" charset="0"/>
                <a:sym typeface="Manrope"/>
              </a:rPr>
              <a:t> </a:t>
            </a:r>
            <a:r>
              <a:rPr lang="en-IN" altLang="en-US" sz="1200">
                <a:solidFill>
                  <a:schemeClr val="tx1"/>
                </a:solidFill>
                <a:latin typeface="Times New Roman" panose="02020603050405020304" charset="0"/>
                <a:ea typeface="Manrope"/>
                <a:cs typeface="Times New Roman" panose="02020603050405020304" charset="0"/>
                <a:sym typeface="Manrope"/>
              </a:rPr>
              <a:t>- </a:t>
            </a:r>
            <a:r>
              <a:rPr lang="en-US" altLang="en-US" sz="1200">
                <a:solidFill>
                  <a:schemeClr val="tx1"/>
                </a:solidFill>
                <a:latin typeface="Times New Roman" panose="02020603050405020304" charset="0"/>
                <a:ea typeface="Manrope"/>
                <a:cs typeface="Times New Roman" panose="02020603050405020304" charset="0"/>
                <a:sym typeface="Manrope"/>
              </a:rPr>
              <a:t>Doesn't just say "Don't eat that." It explains why using natural language (e.g., "Avoid pizza tonight because your sleep was poor (5h), reducing your insulin sensitivity").</a:t>
            </a:r>
            <a:endParaRPr lang="en-US" altLang="en-US" sz="1200">
              <a:solidFill>
                <a:schemeClr val="tx1"/>
              </a:solidFill>
              <a:latin typeface="Times New Roman" panose="02020603050405020304" charset="0"/>
              <a:ea typeface="Manrope"/>
              <a:cs typeface="Times New Roman" panose="02020603050405020304" charset="0"/>
              <a:sym typeface="Manrope"/>
            </a:endParaRPr>
          </a:p>
          <a:p>
            <a:pPr marL="171450" lvl="0" indent="-171450" algn="l" rtl="0">
              <a:lnSpc>
                <a:spcPct val="95000"/>
              </a:lnSpc>
              <a:spcBef>
                <a:spcPts val="1200"/>
              </a:spcBef>
              <a:spcAft>
                <a:spcPts val="1200"/>
              </a:spcAft>
              <a:buSzPts val="935"/>
              <a:buFont typeface="Arial" panose="020B0604020202020204" pitchFamily="34" charset="0"/>
              <a:buChar char="•"/>
            </a:pPr>
            <a:r>
              <a:rPr lang="en-US" altLang="en-US" sz="1200" b="1">
                <a:solidFill>
                  <a:schemeClr val="tx1"/>
                </a:solidFill>
                <a:latin typeface="Times New Roman" panose="02020603050405020304" charset="0"/>
                <a:ea typeface="Manrope"/>
                <a:cs typeface="Times New Roman" panose="02020603050405020304" charset="0"/>
                <a:sym typeface="Manrope"/>
              </a:rPr>
              <a:t>Clinical Safety Guardrails</a:t>
            </a:r>
            <a:r>
              <a:rPr lang="en-IN" altLang="en-US" sz="1200">
                <a:solidFill>
                  <a:schemeClr val="tx1"/>
                </a:solidFill>
                <a:latin typeface="Times New Roman" panose="02020603050405020304" charset="0"/>
                <a:ea typeface="Manrope"/>
                <a:cs typeface="Times New Roman" panose="02020603050405020304" charset="0"/>
                <a:sym typeface="Manrope"/>
              </a:rPr>
              <a:t> - </a:t>
            </a:r>
            <a:r>
              <a:rPr lang="en-US" altLang="en-US" sz="1200">
                <a:solidFill>
                  <a:schemeClr val="tx1"/>
                </a:solidFill>
                <a:latin typeface="Times New Roman" panose="02020603050405020304" charset="0"/>
                <a:ea typeface="Manrope"/>
                <a:cs typeface="Times New Roman" panose="02020603050405020304" charset="0"/>
                <a:sym typeface="Manrope"/>
              </a:rPr>
              <a:t>Powered by Amazon Bedrock Guardrails to filter out harmful advice and ensure the AI never hallucinates medical prescriptions.</a:t>
            </a:r>
            <a:endParaRPr lang="en-US" altLang="en-US" sz="1200">
              <a:solidFill>
                <a:schemeClr val="tx1"/>
              </a:solidFill>
              <a:latin typeface="Times New Roman" panose="02020603050405020304" charset="0"/>
              <a:ea typeface="Manrope"/>
              <a:cs typeface="Times New Roman" panose="02020603050405020304" charset="0"/>
              <a:sym typeface="Manrop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73" name="Shape 73"/>
        <p:cNvGrpSpPr/>
        <p:nvPr/>
      </p:nvGrpSpPr>
      <p:grpSpPr>
        <a:xfrm>
          <a:off x="0" y="0"/>
          <a:ext cx="0" cy="0"/>
          <a:chOff x="0" y="0"/>
          <a:chExt cx="0" cy="0"/>
        </a:xfrm>
      </p:grpSpPr>
      <p:pic>
        <p:nvPicPr>
          <p:cNvPr id="74" name="Google Shape;74;p16"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75" name="Google Shape;75;p16"/>
          <p:cNvSpPr txBox="1"/>
          <p:nvPr/>
        </p:nvSpPr>
        <p:spPr>
          <a:xfrm>
            <a:off x="0" y="521970"/>
            <a:ext cx="8902065" cy="445071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35"/>
              <a:buNone/>
            </a:pPr>
            <a:r>
              <a:rPr lang="en-GB" b="1">
                <a:solidFill>
                  <a:srgbClr val="202729"/>
                </a:solidFill>
                <a:latin typeface="Times New Roman" panose="02020603050405020304" charset="0"/>
                <a:ea typeface="Manrope"/>
                <a:cs typeface="Times New Roman" panose="02020603050405020304" charset="0"/>
                <a:sym typeface="Manrope"/>
              </a:rPr>
              <a:t>List of features offered by the solution</a:t>
            </a:r>
            <a:r>
              <a:rPr lang="en-IN" altLang="en-GB" b="1">
                <a:solidFill>
                  <a:srgbClr val="202729"/>
                </a:solidFill>
                <a:latin typeface="Times New Roman" panose="02020603050405020304" charset="0"/>
                <a:ea typeface="Manrope"/>
                <a:cs typeface="Times New Roman" panose="02020603050405020304" charset="0"/>
                <a:sym typeface="Manrope"/>
              </a:rPr>
              <a:t>:</a:t>
            </a:r>
            <a:endParaRPr b="1">
              <a:solidFill>
                <a:srgbClr val="202729"/>
              </a:solidFill>
              <a:latin typeface="Times New Roman" panose="02020603050405020304" charset="0"/>
              <a:ea typeface="Manrope"/>
              <a:cs typeface="Times New Roman" panose="02020603050405020304" charset="0"/>
              <a:sym typeface="Manrope"/>
            </a:endParaRPr>
          </a:p>
          <a:p>
            <a:pPr marL="0" lvl="0" indent="0" algn="l" rtl="0">
              <a:lnSpc>
                <a:spcPct val="95000"/>
              </a:lnSpc>
              <a:spcBef>
                <a:spcPts val="1200"/>
              </a:spcBef>
              <a:spcAft>
                <a:spcPts val="1200"/>
              </a:spcAft>
              <a:buSzPts val="935"/>
              <a:buFont typeface="Arial" panose="020B0604020202020204" pitchFamily="34" charset="0"/>
              <a:buNone/>
            </a:pPr>
            <a:endParaRPr lang="en-US" altLang="en-US" sz="1200">
              <a:solidFill>
                <a:schemeClr val="tx1"/>
              </a:solidFill>
              <a:latin typeface="Times New Roman" panose="02020603050405020304" charset="0"/>
              <a:ea typeface="Manrope"/>
              <a:cs typeface="Times New Roman" panose="02020603050405020304" charset="0"/>
              <a:sym typeface="Manrope"/>
            </a:endParaRPr>
          </a:p>
        </p:txBody>
      </p:sp>
      <p:pic>
        <p:nvPicPr>
          <p:cNvPr id="3" name="Picture 2" descr="Untitled diagram-2026-02-15-151303"/>
          <p:cNvPicPr>
            <a:picLocks noChangeAspect="1"/>
          </p:cNvPicPr>
          <p:nvPr/>
        </p:nvPicPr>
        <p:blipFill>
          <a:blip r:embed="rId2"/>
          <a:stretch>
            <a:fillRect/>
          </a:stretch>
        </p:blipFill>
        <p:spPr>
          <a:xfrm>
            <a:off x="335915" y="1021080"/>
            <a:ext cx="8456295" cy="37941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85" name="Shape 85"/>
        <p:cNvGrpSpPr/>
        <p:nvPr/>
      </p:nvGrpSpPr>
      <p:grpSpPr>
        <a:xfrm>
          <a:off x="0" y="0"/>
          <a:ext cx="0" cy="0"/>
          <a:chOff x="0" y="0"/>
          <a:chExt cx="0" cy="0"/>
        </a:xfrm>
      </p:grpSpPr>
      <p:pic>
        <p:nvPicPr>
          <p:cNvPr id="86" name="Google Shape;86;p18"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87" name="Google Shape;87;p18"/>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b="1">
                <a:solidFill>
                  <a:srgbClr val="202729"/>
                </a:solidFill>
                <a:latin typeface="Times New Roman" panose="02020603050405020304" charset="0"/>
                <a:ea typeface="Manrope"/>
                <a:cs typeface="Times New Roman" panose="02020603050405020304" charset="0"/>
                <a:sym typeface="Manrope"/>
              </a:rPr>
              <a:t>Wireframe</a:t>
            </a:r>
            <a:r>
              <a:rPr lang="en-IN" altLang="en-GB" b="1">
                <a:solidFill>
                  <a:srgbClr val="202729"/>
                </a:solidFill>
                <a:latin typeface="Times New Roman" panose="02020603050405020304" charset="0"/>
                <a:ea typeface="Manrope"/>
                <a:cs typeface="Times New Roman" panose="02020603050405020304" charset="0"/>
                <a:sym typeface="Manrope"/>
              </a:rPr>
              <a:t> </a:t>
            </a:r>
            <a:r>
              <a:rPr lang="en-GB" b="1">
                <a:solidFill>
                  <a:srgbClr val="202729"/>
                </a:solidFill>
                <a:latin typeface="Times New Roman" panose="02020603050405020304" charset="0"/>
                <a:ea typeface="Manrope"/>
                <a:cs typeface="Times New Roman" panose="02020603050405020304" charset="0"/>
                <a:sym typeface="Manrope"/>
              </a:rPr>
              <a:t>diagram</a:t>
            </a:r>
            <a:r>
              <a:rPr lang="en-IN" altLang="en-GB" b="1">
                <a:solidFill>
                  <a:srgbClr val="202729"/>
                </a:solidFill>
                <a:latin typeface="Times New Roman" panose="02020603050405020304" charset="0"/>
                <a:ea typeface="Manrope"/>
                <a:cs typeface="Times New Roman" panose="02020603050405020304" charset="0"/>
                <a:sym typeface="Manrope"/>
              </a:rPr>
              <a:t> of </a:t>
            </a:r>
            <a:r>
              <a:rPr lang="en-GB" b="1">
                <a:solidFill>
                  <a:srgbClr val="202729"/>
                </a:solidFill>
                <a:latin typeface="Times New Roman" panose="02020603050405020304" charset="0"/>
                <a:ea typeface="Manrope"/>
                <a:cs typeface="Times New Roman" panose="02020603050405020304" charset="0"/>
                <a:sym typeface="Manrope"/>
              </a:rPr>
              <a:t> the proposed solution</a:t>
            </a:r>
            <a:r>
              <a:rPr lang="en-IN" altLang="en-GB" b="1">
                <a:solidFill>
                  <a:srgbClr val="202729"/>
                </a:solidFill>
                <a:latin typeface="Times New Roman" panose="02020603050405020304" charset="0"/>
                <a:ea typeface="Manrope"/>
                <a:cs typeface="Times New Roman" panose="02020603050405020304" charset="0"/>
                <a:sym typeface="Manrope"/>
              </a:rPr>
              <a:t>:</a:t>
            </a:r>
            <a:r>
              <a:rPr lang="en-GB" b="1">
                <a:solidFill>
                  <a:srgbClr val="202729"/>
                </a:solidFill>
                <a:latin typeface="Times New Roman" panose="02020603050405020304" charset="0"/>
                <a:ea typeface="Manrope"/>
                <a:cs typeface="Times New Roman" panose="02020603050405020304" charset="0"/>
                <a:sym typeface="Manrope"/>
              </a:rPr>
              <a:t> </a:t>
            </a:r>
            <a:endParaRPr b="1">
              <a:solidFill>
                <a:srgbClr val="202729"/>
              </a:solidFill>
              <a:latin typeface="Times New Roman" panose="02020603050405020304" charset="0"/>
              <a:ea typeface="Manrope"/>
              <a:cs typeface="Times New Roman" panose="02020603050405020304" charset="0"/>
              <a:sym typeface="Manrope"/>
            </a:endParaRPr>
          </a:p>
          <a:p>
            <a:pPr marL="0" lvl="0" indent="0" algn="l" rtl="0">
              <a:lnSpc>
                <a:spcPct val="115000"/>
              </a:lnSpc>
              <a:spcBef>
                <a:spcPts val="1200"/>
              </a:spcBef>
              <a:spcAft>
                <a:spcPts val="1200"/>
              </a:spcAft>
              <a:buSzPts val="935"/>
              <a:buNone/>
            </a:pPr>
            <a:endParaRPr>
              <a:solidFill>
                <a:srgbClr val="434343"/>
              </a:solidFill>
              <a:latin typeface="Times New Roman" panose="02020603050405020304" charset="0"/>
              <a:ea typeface="Manrope"/>
              <a:cs typeface="Times New Roman" panose="02020603050405020304" charset="0"/>
              <a:sym typeface="Manrope"/>
            </a:endParaRPr>
          </a:p>
        </p:txBody>
      </p:sp>
      <p:pic>
        <p:nvPicPr>
          <p:cNvPr id="4" name="Picture 3"/>
          <p:cNvPicPr>
            <a:picLocks noChangeAspect="1"/>
          </p:cNvPicPr>
          <p:nvPr/>
        </p:nvPicPr>
        <p:blipFill>
          <a:blip r:embed="rId2"/>
          <a:stretch>
            <a:fillRect/>
          </a:stretch>
        </p:blipFill>
        <p:spPr>
          <a:xfrm>
            <a:off x="0" y="1337310"/>
            <a:ext cx="9143365" cy="26054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91" name="Shape 91"/>
        <p:cNvGrpSpPr/>
        <p:nvPr/>
      </p:nvGrpSpPr>
      <p:grpSpPr>
        <a:xfrm>
          <a:off x="0" y="0"/>
          <a:ext cx="0" cy="0"/>
          <a:chOff x="0" y="0"/>
          <a:chExt cx="0" cy="0"/>
        </a:xfrm>
      </p:grpSpPr>
      <p:pic>
        <p:nvPicPr>
          <p:cNvPr id="92" name="Google Shape;92;p19"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93" name="Google Shape;93;p19"/>
          <p:cNvSpPr txBox="1"/>
          <p:nvPr/>
        </p:nvSpPr>
        <p:spPr>
          <a:xfrm>
            <a:off x="311785" y="448310"/>
            <a:ext cx="7531735" cy="4354195"/>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a:solidFill>
                  <a:srgbClr val="202729"/>
                </a:solidFill>
                <a:latin typeface="Manrope"/>
                <a:ea typeface="Manrope"/>
                <a:cs typeface="Manrope"/>
                <a:sym typeface="Manrope"/>
              </a:rPr>
              <a:t>Architecture diagram of the proposed solution:</a:t>
            </a:r>
            <a:endParaRPr lang="en-GB" sz="1700" b="1">
              <a:solidFill>
                <a:srgbClr val="202729"/>
              </a:solidFill>
              <a:latin typeface="Manrope"/>
              <a:ea typeface="Manrope"/>
              <a:cs typeface="Manrope"/>
              <a:sym typeface="Manrope"/>
            </a:endParaRPr>
          </a:p>
          <a:p>
            <a:pPr marL="0" lvl="0" indent="0" algn="l" rtl="0">
              <a:lnSpc>
                <a:spcPct val="115000"/>
              </a:lnSpc>
              <a:spcBef>
                <a:spcPts val="0"/>
              </a:spcBef>
              <a:spcAft>
                <a:spcPts val="1200"/>
              </a:spcAft>
              <a:buSzPts val="935"/>
              <a:buFont typeface="Arial" panose="020B0604020202020204" pitchFamily="34" charset="0"/>
              <a:buNone/>
            </a:pPr>
            <a:endParaRPr lang="en-US" altLang="en-US" sz="1200">
              <a:solidFill>
                <a:schemeClr val="tx1"/>
              </a:solidFill>
              <a:latin typeface="Times New Roman" panose="02020603050405020304" charset="0"/>
              <a:ea typeface="Manrope"/>
              <a:cs typeface="Times New Roman" panose="02020603050405020304" charset="0"/>
              <a:sym typeface="Manrope"/>
            </a:endParaRPr>
          </a:p>
        </p:txBody>
      </p:sp>
      <p:pic>
        <p:nvPicPr>
          <p:cNvPr id="1" name="Picture 0" descr="HormoneLens Metabolic Score-2026-02-15-170651"/>
          <p:cNvPicPr>
            <a:picLocks noChangeAspect="1"/>
          </p:cNvPicPr>
          <p:nvPr/>
        </p:nvPicPr>
        <p:blipFill>
          <a:blip r:embed="rId2"/>
          <a:stretch>
            <a:fillRect/>
          </a:stretch>
        </p:blipFill>
        <p:spPr>
          <a:xfrm>
            <a:off x="368935" y="1094740"/>
            <a:ext cx="8536305" cy="31800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91" name="Shape 91"/>
        <p:cNvGrpSpPr/>
        <p:nvPr/>
      </p:nvGrpSpPr>
      <p:grpSpPr>
        <a:xfrm>
          <a:off x="0" y="0"/>
          <a:ext cx="0" cy="0"/>
          <a:chOff x="0" y="0"/>
          <a:chExt cx="0" cy="0"/>
        </a:xfrm>
      </p:grpSpPr>
      <p:pic>
        <p:nvPicPr>
          <p:cNvPr id="92" name="Google Shape;92;p19"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93" name="Google Shape;93;p19"/>
          <p:cNvSpPr txBox="1"/>
          <p:nvPr/>
        </p:nvSpPr>
        <p:spPr>
          <a:xfrm>
            <a:off x="311785" y="448310"/>
            <a:ext cx="8236585" cy="469582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935"/>
              <a:buNone/>
            </a:pPr>
            <a:r>
              <a:rPr lang="en-IN" altLang="en-GB" b="1">
                <a:solidFill>
                  <a:srgbClr val="202729"/>
                </a:solidFill>
                <a:latin typeface="Times New Roman" panose="02020603050405020304" charset="0"/>
                <a:ea typeface="Manrope"/>
                <a:cs typeface="Times New Roman" panose="02020603050405020304" charset="0"/>
                <a:sym typeface="Manrope"/>
              </a:rPr>
              <a:t>System </a:t>
            </a:r>
            <a:r>
              <a:rPr lang="en-GB" b="1">
                <a:solidFill>
                  <a:srgbClr val="202729"/>
                </a:solidFill>
                <a:latin typeface="Times New Roman" panose="02020603050405020304" charset="0"/>
                <a:ea typeface="Manrope"/>
                <a:cs typeface="Times New Roman" panose="02020603050405020304" charset="0"/>
                <a:sym typeface="Manrope"/>
              </a:rPr>
              <a:t>Architecture:</a:t>
            </a:r>
            <a:r>
              <a:rPr lang="en-IN" altLang="en-GB" b="1">
                <a:solidFill>
                  <a:srgbClr val="202729"/>
                </a:solidFill>
                <a:latin typeface="Times New Roman" panose="02020603050405020304" charset="0"/>
                <a:ea typeface="Manrope"/>
                <a:cs typeface="Times New Roman" panose="02020603050405020304" charset="0"/>
                <a:sym typeface="Manrope"/>
              </a:rPr>
              <a:t> The Simulation Core</a:t>
            </a:r>
            <a:endParaRPr lang="en-IN" altLang="en-GB" b="1">
              <a:solidFill>
                <a:srgbClr val="202729"/>
              </a:solidFill>
              <a:latin typeface="Times New Roman" panose="02020603050405020304" charset="0"/>
              <a:ea typeface="Manrope"/>
              <a:cs typeface="Times New Roman" panose="02020603050405020304" charset="0"/>
              <a:sym typeface="Manrope"/>
            </a:endParaRPr>
          </a:p>
          <a:p>
            <a:pPr marL="0" lvl="0" indent="0" algn="l" rtl="0">
              <a:lnSpc>
                <a:spcPct val="115000"/>
              </a:lnSpc>
              <a:spcBef>
                <a:spcPts val="0"/>
              </a:spcBef>
              <a:spcAft>
                <a:spcPts val="1200"/>
              </a:spcAft>
              <a:buSzPts val="935"/>
              <a:buNone/>
            </a:pPr>
            <a:r>
              <a:rPr lang="en-US" altLang="en-US" sz="1100" b="1">
                <a:solidFill>
                  <a:srgbClr val="202729"/>
                </a:solidFill>
                <a:latin typeface="Times New Roman" panose="02020603050405020304" charset="0"/>
                <a:ea typeface="Manrope"/>
                <a:cs typeface="Times New Roman" panose="02020603050405020304" charset="0"/>
                <a:sym typeface="Manrope"/>
              </a:rPr>
              <a:t>1. The Orchestration Layer</a:t>
            </a:r>
            <a:endParaRPr lang="en-US" altLang="en-US" sz="1100" b="1">
              <a:solidFill>
                <a:srgbClr val="202729"/>
              </a:solidFill>
              <a:latin typeface="Times New Roman" panose="02020603050405020304" charset="0"/>
              <a:ea typeface="Manrope"/>
              <a:cs typeface="Times New Roman" panose="02020603050405020304" charset="0"/>
              <a:sym typeface="Manrope"/>
            </a:endParaRPr>
          </a:p>
          <a:p>
            <a:pPr marL="0" lvl="0" indent="0" algn="l" rtl="0">
              <a:lnSpc>
                <a:spcPct val="115000"/>
              </a:lnSpc>
              <a:spcBef>
                <a:spcPts val="0"/>
              </a:spcBef>
              <a:spcAft>
                <a:spcPts val="1200"/>
              </a:spcAft>
              <a:buSzPts val="935"/>
              <a:buNone/>
            </a:pPr>
            <a:r>
              <a:rPr lang="en-US" altLang="en-US" sz="1100" b="1">
                <a:solidFill>
                  <a:srgbClr val="202729"/>
                </a:solidFill>
                <a:latin typeface="Times New Roman" panose="02020603050405020304" charset="0"/>
                <a:ea typeface="Manrope"/>
                <a:cs typeface="Times New Roman" panose="02020603050405020304" charset="0"/>
                <a:sym typeface="Manrope"/>
              </a:rPr>
              <a:t>Laravel Backend (The Orchestrator): </a:t>
            </a:r>
            <a:r>
              <a:rPr lang="en-US" altLang="en-US" sz="1100">
                <a:solidFill>
                  <a:srgbClr val="202729"/>
                </a:solidFill>
                <a:latin typeface="Times New Roman" panose="02020603050405020304" charset="0"/>
                <a:ea typeface="Manrope"/>
                <a:cs typeface="Times New Roman" panose="02020603050405020304" charset="0"/>
                <a:sym typeface="Manrope"/>
              </a:rPr>
              <a:t>Manages user authentication, coordinates API requests, and chains prompts to the AI core.</a:t>
            </a:r>
            <a:endParaRPr lang="en-US" altLang="en-US" sz="1100">
              <a:solidFill>
                <a:srgbClr val="202729"/>
              </a:solidFill>
              <a:latin typeface="Times New Roman" panose="02020603050405020304" charset="0"/>
              <a:ea typeface="Manrope"/>
              <a:cs typeface="Times New Roman" panose="02020603050405020304" charset="0"/>
              <a:sym typeface="Manrope"/>
            </a:endParaRPr>
          </a:p>
          <a:p>
            <a:pPr marL="0" lvl="0" indent="0" algn="l" rtl="0">
              <a:lnSpc>
                <a:spcPct val="115000"/>
              </a:lnSpc>
              <a:spcBef>
                <a:spcPts val="0"/>
              </a:spcBef>
              <a:spcAft>
                <a:spcPts val="1200"/>
              </a:spcAft>
              <a:buSzPts val="935"/>
              <a:buNone/>
            </a:pPr>
            <a:r>
              <a:rPr lang="en-US" altLang="en-US" sz="1100" b="1">
                <a:solidFill>
                  <a:srgbClr val="202729"/>
                </a:solidFill>
                <a:latin typeface="Times New Roman" panose="02020603050405020304" charset="0"/>
                <a:ea typeface="Manrope"/>
                <a:cs typeface="Times New Roman" panose="02020603050405020304" charset="0"/>
                <a:sym typeface="Manrope"/>
              </a:rPr>
              <a:t>Live Dashboard: </a:t>
            </a:r>
            <a:r>
              <a:rPr lang="en-US" altLang="en-US" sz="1100">
                <a:solidFill>
                  <a:srgbClr val="202729"/>
                </a:solidFill>
                <a:latin typeface="Times New Roman" panose="02020603050405020304" charset="0"/>
                <a:ea typeface="Manrope"/>
                <a:cs typeface="Times New Roman" panose="02020603050405020304" charset="0"/>
                <a:sym typeface="Manrope"/>
              </a:rPr>
              <a:t>Renders real-time metabolic insights and predictive graphs using a seamless frontend-to-backend connection.</a:t>
            </a:r>
            <a:endParaRPr lang="en-US" altLang="en-US" sz="1100">
              <a:solidFill>
                <a:srgbClr val="202729"/>
              </a:solidFill>
              <a:latin typeface="Times New Roman" panose="02020603050405020304" charset="0"/>
              <a:ea typeface="Manrope"/>
              <a:cs typeface="Times New Roman" panose="02020603050405020304" charset="0"/>
              <a:sym typeface="Manrope"/>
            </a:endParaRPr>
          </a:p>
          <a:p>
            <a:pPr marL="0" lvl="0" indent="0" algn="l" rtl="0">
              <a:lnSpc>
                <a:spcPct val="115000"/>
              </a:lnSpc>
              <a:spcBef>
                <a:spcPts val="0"/>
              </a:spcBef>
              <a:spcAft>
                <a:spcPts val="1200"/>
              </a:spcAft>
              <a:buSzPts val="935"/>
              <a:buNone/>
            </a:pPr>
            <a:r>
              <a:rPr lang="en-US" altLang="en-US" sz="1100" b="1">
                <a:solidFill>
                  <a:srgbClr val="202729"/>
                </a:solidFill>
                <a:latin typeface="Times New Roman" panose="02020603050405020304" charset="0"/>
                <a:ea typeface="Manrope"/>
                <a:cs typeface="Times New Roman" panose="02020603050405020304" charset="0"/>
                <a:sym typeface="Manrope"/>
              </a:rPr>
              <a:t>2. The Intelligence Core (AWS-Powered)</a:t>
            </a:r>
            <a:endParaRPr lang="en-US" altLang="en-US" sz="1100" b="1">
              <a:solidFill>
                <a:srgbClr val="202729"/>
              </a:solidFill>
              <a:latin typeface="Times New Roman" panose="02020603050405020304" charset="0"/>
              <a:ea typeface="Manrope"/>
              <a:cs typeface="Times New Roman" panose="02020603050405020304" charset="0"/>
              <a:sym typeface="Manrope"/>
            </a:endParaRPr>
          </a:p>
          <a:p>
            <a:pPr marL="0" lvl="0" indent="0" algn="l" rtl="0">
              <a:lnSpc>
                <a:spcPct val="115000"/>
              </a:lnSpc>
              <a:spcBef>
                <a:spcPts val="0"/>
              </a:spcBef>
              <a:spcAft>
                <a:spcPts val="1200"/>
              </a:spcAft>
              <a:buSzPts val="935"/>
              <a:buNone/>
            </a:pPr>
            <a:r>
              <a:rPr lang="en-US" altLang="en-US" sz="1100" b="1">
                <a:solidFill>
                  <a:srgbClr val="202729"/>
                </a:solidFill>
                <a:latin typeface="Times New Roman" panose="02020603050405020304" charset="0"/>
                <a:ea typeface="Manrope"/>
                <a:cs typeface="Times New Roman" panose="02020603050405020304" charset="0"/>
                <a:sym typeface="Manrope"/>
              </a:rPr>
              <a:t>Reasoning Engine (Amazon Bedrock): </a:t>
            </a:r>
            <a:r>
              <a:rPr lang="en-US" altLang="en-US" sz="1100">
                <a:solidFill>
                  <a:srgbClr val="202729"/>
                </a:solidFill>
                <a:latin typeface="Times New Roman" panose="02020603050405020304" charset="0"/>
                <a:ea typeface="Manrope"/>
                <a:cs typeface="Times New Roman" panose="02020603050405020304" charset="0"/>
                <a:sym typeface="Manrope"/>
              </a:rPr>
              <a:t>Utilizes </a:t>
            </a:r>
            <a:r>
              <a:rPr lang="en-IN" altLang="en-US" sz="1100">
                <a:solidFill>
                  <a:srgbClr val="202729"/>
                </a:solidFill>
                <a:latin typeface="Times New Roman" panose="02020603050405020304" charset="0"/>
                <a:ea typeface="Manrope"/>
                <a:cs typeface="Times New Roman" panose="02020603050405020304" charset="0"/>
                <a:sym typeface="Manrope"/>
              </a:rPr>
              <a:t>Bedrock</a:t>
            </a:r>
            <a:r>
              <a:rPr lang="en-US" altLang="en-US" sz="1100">
                <a:solidFill>
                  <a:srgbClr val="202729"/>
                </a:solidFill>
                <a:latin typeface="Times New Roman" panose="02020603050405020304" charset="0"/>
                <a:ea typeface="Manrope"/>
                <a:cs typeface="Times New Roman" panose="02020603050405020304" charset="0"/>
                <a:sym typeface="Manrope"/>
              </a:rPr>
              <a:t> to perform complex semantic reasoning across disparate data points like sleep, stress, and nutrition.</a:t>
            </a:r>
            <a:endParaRPr lang="en-US" altLang="en-US" sz="1100">
              <a:solidFill>
                <a:srgbClr val="202729"/>
              </a:solidFill>
              <a:latin typeface="Times New Roman" panose="02020603050405020304" charset="0"/>
              <a:ea typeface="Manrope"/>
              <a:cs typeface="Times New Roman" panose="02020603050405020304" charset="0"/>
              <a:sym typeface="Manrope"/>
            </a:endParaRPr>
          </a:p>
          <a:p>
            <a:pPr marL="0" lvl="0" indent="0" algn="l" rtl="0">
              <a:lnSpc>
                <a:spcPct val="115000"/>
              </a:lnSpc>
              <a:spcBef>
                <a:spcPts val="0"/>
              </a:spcBef>
              <a:spcAft>
                <a:spcPts val="1200"/>
              </a:spcAft>
              <a:buSzPts val="935"/>
              <a:buNone/>
            </a:pPr>
            <a:r>
              <a:rPr lang="en-US" altLang="en-US" sz="1100" b="1">
                <a:solidFill>
                  <a:srgbClr val="202729"/>
                </a:solidFill>
                <a:latin typeface="Times New Roman" panose="02020603050405020304" charset="0"/>
                <a:ea typeface="Manrope"/>
                <a:cs typeface="Times New Roman" panose="02020603050405020304" charset="0"/>
                <a:sym typeface="Manrope"/>
              </a:rPr>
              <a:t>Contextual Memory (ChromaDB):</a:t>
            </a:r>
            <a:r>
              <a:rPr lang="en-US" altLang="en-US" sz="1100">
                <a:solidFill>
                  <a:srgbClr val="202729"/>
                </a:solidFill>
                <a:latin typeface="Times New Roman" panose="02020603050405020304" charset="0"/>
                <a:ea typeface="Manrope"/>
                <a:cs typeface="Times New Roman" panose="02020603050405020304" charset="0"/>
                <a:sym typeface="Manrope"/>
              </a:rPr>
              <a:t> A high-performance Vector Database that retrieves a user’s unique historical health patterns to ground every AI prediction in reality.</a:t>
            </a:r>
            <a:endParaRPr lang="en-US" altLang="en-US" sz="1100">
              <a:solidFill>
                <a:srgbClr val="202729"/>
              </a:solidFill>
              <a:latin typeface="Times New Roman" panose="02020603050405020304" charset="0"/>
              <a:ea typeface="Manrope"/>
              <a:cs typeface="Times New Roman" panose="02020603050405020304" charset="0"/>
              <a:sym typeface="Manrope"/>
            </a:endParaRPr>
          </a:p>
          <a:p>
            <a:pPr marL="0" lvl="0" indent="0" algn="l" rtl="0">
              <a:lnSpc>
                <a:spcPct val="115000"/>
              </a:lnSpc>
              <a:spcBef>
                <a:spcPts val="0"/>
              </a:spcBef>
              <a:spcAft>
                <a:spcPts val="1200"/>
              </a:spcAft>
              <a:buSzPts val="935"/>
              <a:buNone/>
            </a:pPr>
            <a:r>
              <a:rPr lang="en-US" altLang="en-US" sz="1100" b="1">
                <a:solidFill>
                  <a:srgbClr val="202729"/>
                </a:solidFill>
                <a:latin typeface="Times New Roman" panose="02020603050405020304" charset="0"/>
                <a:ea typeface="Manrope"/>
                <a:cs typeface="Times New Roman" panose="02020603050405020304" charset="0"/>
                <a:sym typeface="Manrope"/>
              </a:rPr>
              <a:t>Safety Shield (AWS Guardrails):</a:t>
            </a:r>
            <a:r>
              <a:rPr lang="en-US" altLang="en-US" sz="1100">
                <a:solidFill>
                  <a:srgbClr val="202729"/>
                </a:solidFill>
                <a:latin typeface="Times New Roman" panose="02020603050405020304" charset="0"/>
                <a:ea typeface="Manrope"/>
                <a:cs typeface="Times New Roman" panose="02020603050405020304" charset="0"/>
                <a:sym typeface="Manrope"/>
              </a:rPr>
              <a:t> A dedicated layer that filters AI responses in real-time to prevent medical hallucinations and ensure 100% responsible guidance.</a:t>
            </a:r>
            <a:endParaRPr lang="en-US" altLang="en-US" sz="1100">
              <a:solidFill>
                <a:srgbClr val="202729"/>
              </a:solidFill>
              <a:latin typeface="Times New Roman" panose="02020603050405020304" charset="0"/>
              <a:ea typeface="Manrope"/>
              <a:cs typeface="Times New Roman" panose="02020603050405020304" charset="0"/>
              <a:sym typeface="Manrope"/>
            </a:endParaRPr>
          </a:p>
          <a:p>
            <a:pPr marL="0" lvl="0" indent="0" algn="l" rtl="0">
              <a:lnSpc>
                <a:spcPct val="115000"/>
              </a:lnSpc>
              <a:spcBef>
                <a:spcPts val="0"/>
              </a:spcBef>
              <a:spcAft>
                <a:spcPts val="1200"/>
              </a:spcAft>
              <a:buSzPts val="935"/>
              <a:buNone/>
            </a:pPr>
            <a:r>
              <a:rPr lang="en-US" altLang="en-US" sz="1100" b="1">
                <a:solidFill>
                  <a:srgbClr val="202729"/>
                </a:solidFill>
                <a:latin typeface="Times New Roman" panose="02020603050405020304" charset="0"/>
                <a:ea typeface="Manrope"/>
                <a:cs typeface="Times New Roman" panose="02020603050405020304" charset="0"/>
                <a:sym typeface="Manrope"/>
              </a:rPr>
              <a:t>3. Data Flow &amp; Precision</a:t>
            </a:r>
            <a:endParaRPr lang="en-US" altLang="en-US" sz="1100" b="1">
              <a:solidFill>
                <a:srgbClr val="202729"/>
              </a:solidFill>
              <a:latin typeface="Times New Roman" panose="02020603050405020304" charset="0"/>
              <a:ea typeface="Manrope"/>
              <a:cs typeface="Times New Roman" panose="02020603050405020304" charset="0"/>
              <a:sym typeface="Manrope"/>
            </a:endParaRPr>
          </a:p>
          <a:p>
            <a:pPr marL="0" lvl="0" indent="0" algn="l" rtl="0">
              <a:lnSpc>
                <a:spcPct val="115000"/>
              </a:lnSpc>
              <a:spcBef>
                <a:spcPts val="0"/>
              </a:spcBef>
              <a:spcAft>
                <a:spcPts val="1200"/>
              </a:spcAft>
              <a:buSzPts val="935"/>
              <a:buNone/>
            </a:pPr>
            <a:r>
              <a:rPr lang="en-US" altLang="en-US" sz="1100" b="1">
                <a:solidFill>
                  <a:srgbClr val="202729"/>
                </a:solidFill>
                <a:latin typeface="Times New Roman" panose="02020603050405020304" charset="0"/>
                <a:ea typeface="Manrope"/>
                <a:cs typeface="Times New Roman" panose="02020603050405020304" charset="0"/>
                <a:sym typeface="Manrope"/>
              </a:rPr>
              <a:t>RAG-Driven Predictions:</a:t>
            </a:r>
            <a:r>
              <a:rPr lang="en-US" altLang="en-US" sz="1100">
                <a:solidFill>
                  <a:srgbClr val="202729"/>
                </a:solidFill>
                <a:latin typeface="Times New Roman" panose="02020603050405020304" charset="0"/>
                <a:ea typeface="Manrope"/>
                <a:cs typeface="Times New Roman" panose="02020603050405020304" charset="0"/>
                <a:sym typeface="Manrope"/>
              </a:rPr>
              <a:t> Instead of static rules, the system "injects history" into the model, allowing for a hyper-personalized simulation of future metabolic events.</a:t>
            </a:r>
            <a:endParaRPr lang="en-US" altLang="en-US" sz="1100">
              <a:solidFill>
                <a:srgbClr val="202729"/>
              </a:solidFill>
              <a:latin typeface="Times New Roman" panose="02020603050405020304" charset="0"/>
              <a:ea typeface="Manrope"/>
              <a:cs typeface="Times New Roman" panose="02020603050405020304" charset="0"/>
              <a:sym typeface="Manrope"/>
            </a:endParaRPr>
          </a:p>
          <a:p>
            <a:pPr marL="0" lvl="0" indent="0" algn="l" rtl="0">
              <a:lnSpc>
                <a:spcPct val="115000"/>
              </a:lnSpc>
              <a:spcBef>
                <a:spcPts val="0"/>
              </a:spcBef>
              <a:spcAft>
                <a:spcPts val="1200"/>
              </a:spcAft>
              <a:buSzPts val="935"/>
              <a:buNone/>
            </a:pPr>
            <a:r>
              <a:rPr lang="en-US" altLang="en-US" sz="1100" b="1">
                <a:solidFill>
                  <a:srgbClr val="202729"/>
                </a:solidFill>
                <a:latin typeface="Times New Roman" panose="02020603050405020304" charset="0"/>
                <a:ea typeface="Manrope"/>
                <a:cs typeface="Times New Roman" panose="02020603050405020304" charset="0"/>
                <a:sym typeface="Manrope"/>
              </a:rPr>
              <a:t>Pre-Meal Foresight:</a:t>
            </a:r>
            <a:r>
              <a:rPr lang="en-US" altLang="en-US" sz="1100">
                <a:solidFill>
                  <a:srgbClr val="202729"/>
                </a:solidFill>
                <a:latin typeface="Times New Roman" panose="02020603050405020304" charset="0"/>
                <a:ea typeface="Manrope"/>
                <a:cs typeface="Times New Roman" panose="02020603050405020304" charset="0"/>
                <a:sym typeface="Manrope"/>
              </a:rPr>
              <a:t> The architecture is designed to handle "What-If" scenarios, processing input context to visualize risks before they occur.</a:t>
            </a:r>
            <a:r>
              <a:rPr lang="en-IN" altLang="en-GB" sz="1100">
                <a:solidFill>
                  <a:srgbClr val="202729"/>
                </a:solidFill>
                <a:latin typeface="Times New Roman" panose="02020603050405020304" charset="0"/>
                <a:ea typeface="Manrope"/>
                <a:cs typeface="Times New Roman" panose="02020603050405020304" charset="0"/>
                <a:sym typeface="Manrope"/>
              </a:rPr>
              <a:t> </a:t>
            </a:r>
            <a:endParaRPr lang="en-GB" sz="1100">
              <a:solidFill>
                <a:srgbClr val="202729"/>
              </a:solidFill>
              <a:latin typeface="Times New Roman" panose="02020603050405020304" charset="0"/>
              <a:ea typeface="Manrope"/>
              <a:cs typeface="Times New Roman" panose="02020603050405020304" charset="0"/>
              <a:sym typeface="Manrope"/>
            </a:endParaRPr>
          </a:p>
          <a:p>
            <a:pPr marL="0" lvl="0" indent="0" algn="l" rtl="0">
              <a:lnSpc>
                <a:spcPct val="115000"/>
              </a:lnSpc>
              <a:spcBef>
                <a:spcPts val="0"/>
              </a:spcBef>
              <a:spcAft>
                <a:spcPts val="1200"/>
              </a:spcAft>
              <a:buSzPts val="935"/>
              <a:buFont typeface="Arial" panose="020B0604020202020204" pitchFamily="34" charset="0"/>
              <a:buNone/>
            </a:pPr>
            <a:endParaRPr lang="en-GB" altLang="en-US" sz="400">
              <a:solidFill>
                <a:srgbClr val="202729"/>
              </a:solidFill>
              <a:latin typeface="Times New Roman" panose="02020603050405020304" charset="0"/>
              <a:ea typeface="Manrope"/>
              <a:cs typeface="Times New Roman" panose="02020603050405020304" charset="0"/>
              <a:sym typeface="Manrop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97" name="Shape 97"/>
        <p:cNvGrpSpPr/>
        <p:nvPr/>
      </p:nvGrpSpPr>
      <p:grpSpPr>
        <a:xfrm>
          <a:off x="0" y="0"/>
          <a:ext cx="0" cy="0"/>
          <a:chOff x="0" y="0"/>
          <a:chExt cx="0" cy="0"/>
        </a:xfrm>
      </p:grpSpPr>
      <p:pic>
        <p:nvPicPr>
          <p:cNvPr id="98" name="Google Shape;98;p20"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99" name="Google Shape;99;p20"/>
          <p:cNvSpPr txBox="1"/>
          <p:nvPr/>
        </p:nvSpPr>
        <p:spPr>
          <a:xfrm>
            <a:off x="515535" y="736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b="1">
                <a:solidFill>
                  <a:srgbClr val="202729"/>
                </a:solidFill>
                <a:latin typeface="Times New Roman" panose="02020603050405020304" charset="0"/>
                <a:ea typeface="Manrope"/>
                <a:cs typeface="Times New Roman" panose="02020603050405020304" charset="0"/>
                <a:sym typeface="Manrope"/>
              </a:rPr>
              <a:t>Technologies to be used in the solution:</a:t>
            </a:r>
            <a:endParaRPr lang="en-GB" b="1">
              <a:solidFill>
                <a:srgbClr val="202729"/>
              </a:solidFill>
              <a:latin typeface="Times New Roman" panose="02020603050405020304" charset="0"/>
              <a:ea typeface="Manrope"/>
              <a:cs typeface="Times New Roman" panose="02020603050405020304" charset="0"/>
              <a:sym typeface="Manrope"/>
            </a:endParaRPr>
          </a:p>
          <a:p>
            <a:pPr marL="0" lvl="0" indent="0" algn="l" rtl="0">
              <a:lnSpc>
                <a:spcPct val="115000"/>
              </a:lnSpc>
              <a:spcBef>
                <a:spcPts val="0"/>
              </a:spcBef>
              <a:spcAft>
                <a:spcPts val="1200"/>
              </a:spcAft>
              <a:buSzPts val="935"/>
              <a:buNone/>
            </a:pPr>
            <a:endParaRPr lang="en-GB" altLang="en-US" b="1">
              <a:solidFill>
                <a:srgbClr val="202729"/>
              </a:solidFill>
              <a:latin typeface="Times New Roman" panose="02020603050405020304" charset="0"/>
              <a:ea typeface="Manrope"/>
              <a:cs typeface="Times New Roman" panose="02020603050405020304" charset="0"/>
              <a:sym typeface="Manrope"/>
            </a:endParaRPr>
          </a:p>
        </p:txBody>
      </p:sp>
      <p:graphicFrame>
        <p:nvGraphicFramePr>
          <p:cNvPr id="2" name="Table 1"/>
          <p:cNvGraphicFramePr/>
          <p:nvPr>
            <p:custDataLst>
              <p:tags r:id="rId2"/>
            </p:custDataLst>
          </p:nvPr>
        </p:nvGraphicFramePr>
        <p:xfrm>
          <a:off x="1045210" y="1146175"/>
          <a:ext cx="6888480" cy="3836035"/>
        </p:xfrm>
        <a:graphic>
          <a:graphicData uri="http://schemas.openxmlformats.org/drawingml/2006/table">
            <a:tbl>
              <a:tblPr firstRow="1" bandRow="1">
                <a:tableStyleId>{5C22544A-7EE6-4342-B048-85BDC9FD1C3A}</a:tableStyleId>
              </a:tblPr>
              <a:tblGrid>
                <a:gridCol w="1419860"/>
                <a:gridCol w="1462405"/>
                <a:gridCol w="4006215"/>
              </a:tblGrid>
              <a:tr h="345440">
                <a:tc>
                  <a:txBody>
                    <a:bodyPr/>
                    <a:p>
                      <a:pPr marL="0" indent="0">
                        <a:spcBef>
                          <a:spcPct val="0"/>
                        </a:spcBef>
                        <a:spcAft>
                          <a:spcPct val="0"/>
                        </a:spcAft>
                      </a:pPr>
                      <a:r>
                        <a:rPr lang="en-US" altLang="zh-CN" sz="1200">
                          <a:solidFill>
                            <a:srgbClr val="1F1F1F"/>
                          </a:solidFill>
                          <a:latin typeface="Times New Roman" panose="02020603050405020304" charset="0"/>
                          <a:ea typeface="Google Sans Text"/>
                          <a:cs typeface="Times New Roman" panose="02020603050405020304" charset="0"/>
                        </a:rPr>
                        <a:t>Component</a:t>
                      </a:r>
                      <a:endParaRPr lang="en-US" altLang="zh-CN" sz="120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a:solidFill>
                            <a:srgbClr val="1F1F1F"/>
                          </a:solidFill>
                          <a:latin typeface="Times New Roman" panose="02020603050405020304" charset="0"/>
                          <a:ea typeface="Google Sans Text"/>
                          <a:cs typeface="Times New Roman" panose="02020603050405020304" charset="0"/>
                        </a:rPr>
                        <a:t>Technology Used</a:t>
                      </a:r>
                      <a:endParaRPr lang="en-US" altLang="zh-CN" sz="120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a:solidFill>
                            <a:srgbClr val="1F1F1F"/>
                          </a:solidFill>
                          <a:latin typeface="Times New Roman" panose="02020603050405020304" charset="0"/>
                          <a:ea typeface="Google Sans Text"/>
                          <a:cs typeface="Times New Roman" panose="02020603050405020304" charset="0"/>
                        </a:rPr>
                        <a:t>What it does</a:t>
                      </a:r>
                      <a:r>
                        <a:rPr lang="en-IN" altLang="en-US" sz="1200">
                          <a:solidFill>
                            <a:srgbClr val="1F1F1F"/>
                          </a:solidFill>
                          <a:latin typeface="Times New Roman" panose="02020603050405020304" charset="0"/>
                          <a:ea typeface="Google Sans Text"/>
                          <a:cs typeface="Times New Roman" panose="02020603050405020304" charset="0"/>
                        </a:rPr>
                        <a:t>?</a:t>
                      </a:r>
                      <a:endParaRPr lang="en-IN" altLang="en-US" sz="120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r>
              <a:tr h="487680">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Generative AI</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Amazon Bedrock </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Reasoning Engine: Simulates metabolic risks.</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r>
              <a:tr h="487680">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AI Safety</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Amazon Bedrock Guardrails</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Safety Layer: Filters unsafe medical advice.</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r>
              <a:tr h="346710">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Backend</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Laravel (PHP)</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Orchestrates app logic &amp; AI prompts.</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r>
              <a:tr h="344805">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Database</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PostgreSQL</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Stores structured user profiles &amp; logs.</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r>
              <a:tr h="346710">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Vector Database</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ChromaDB</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Memory: Retrieves past health context for RAG.</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r>
              <a:tr h="345440">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Cache Layer</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Redis</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Caches frequent simulation requests.</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r>
              <a:tr h="345440">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Real-time Engine</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Laravel Reverb</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Pushes live risk alerts to the dashboard.</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r>
              <a:tr h="346075">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RAG Pipeline</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Custom RAG</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Fetches user's historical patterns.</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r>
              <a:tr h="440055">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Data Visualization</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Chart.js</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b="0">
                          <a:solidFill>
                            <a:srgbClr val="1F1F1F"/>
                          </a:solidFill>
                          <a:latin typeface="Times New Roman" panose="02020603050405020304" charset="0"/>
                          <a:ea typeface="Google Sans Text"/>
                          <a:cs typeface="Times New Roman" panose="02020603050405020304" charset="0"/>
                        </a:rPr>
                        <a:t>Renders predicted glucose spike graphs.</a:t>
                      </a:r>
                      <a:endParaRPr lang="en-US" altLang="zh-CN" sz="1200" b="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97" name="Shape 97"/>
        <p:cNvGrpSpPr/>
        <p:nvPr/>
      </p:nvGrpSpPr>
      <p:grpSpPr>
        <a:xfrm>
          <a:off x="0" y="0"/>
          <a:ext cx="0" cy="0"/>
          <a:chOff x="0" y="0"/>
          <a:chExt cx="0" cy="0"/>
        </a:xfrm>
      </p:grpSpPr>
      <p:pic>
        <p:nvPicPr>
          <p:cNvPr id="98" name="Google Shape;98;p20"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99" name="Google Shape;99;p20"/>
          <p:cNvSpPr txBox="1"/>
          <p:nvPr/>
        </p:nvSpPr>
        <p:spPr>
          <a:xfrm>
            <a:off x="515535" y="736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IN" altLang="en-GB" b="1">
                <a:solidFill>
                  <a:srgbClr val="202729"/>
                </a:solidFill>
                <a:latin typeface="Times New Roman" panose="02020603050405020304" charset="0"/>
                <a:ea typeface="Manrope"/>
                <a:cs typeface="Times New Roman" panose="02020603050405020304" charset="0"/>
                <a:sym typeface="Manrope"/>
              </a:rPr>
              <a:t>RAG Pipeline Workflow:</a:t>
            </a:r>
            <a:endParaRPr lang="en-IN" altLang="en-GB" b="1">
              <a:solidFill>
                <a:srgbClr val="202729"/>
              </a:solidFill>
              <a:latin typeface="Times New Roman" panose="02020603050405020304" charset="0"/>
              <a:ea typeface="Manrope"/>
              <a:cs typeface="Times New Roman" panose="02020603050405020304" charset="0"/>
              <a:sym typeface="Manrope"/>
            </a:endParaRPr>
          </a:p>
        </p:txBody>
      </p:sp>
      <p:pic>
        <p:nvPicPr>
          <p:cNvPr id="2" name="Picture 1"/>
          <p:cNvPicPr>
            <a:picLocks noChangeAspect="1"/>
          </p:cNvPicPr>
          <p:nvPr/>
        </p:nvPicPr>
        <p:blipFill>
          <a:blip r:embed="rId2"/>
          <a:stretch>
            <a:fillRect/>
          </a:stretch>
        </p:blipFill>
        <p:spPr>
          <a:xfrm>
            <a:off x="0" y="1367155"/>
            <a:ext cx="9144000" cy="30391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97" name="Shape 97"/>
        <p:cNvGrpSpPr/>
        <p:nvPr/>
      </p:nvGrpSpPr>
      <p:grpSpPr>
        <a:xfrm>
          <a:off x="0" y="0"/>
          <a:ext cx="0" cy="0"/>
          <a:chOff x="0" y="0"/>
          <a:chExt cx="0" cy="0"/>
        </a:xfrm>
      </p:grpSpPr>
      <p:pic>
        <p:nvPicPr>
          <p:cNvPr id="98" name="Google Shape;98;p20"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99" name="Google Shape;99;p20"/>
          <p:cNvSpPr txBox="1"/>
          <p:nvPr/>
        </p:nvSpPr>
        <p:spPr>
          <a:xfrm>
            <a:off x="311700" y="880060"/>
            <a:ext cx="7531800" cy="3669600"/>
          </a:xfrm>
          <a:prstGeom prst="rect">
            <a:avLst/>
          </a:prstGeom>
          <a:noFill/>
          <a:ln>
            <a:noFill/>
          </a:ln>
        </p:spPr>
        <p:txBody>
          <a:bodyPr spcFirstLastPara="1" wrap="square" lIns="91425" tIns="91425" rIns="91425" bIns="91425" anchor="t" anchorCtr="0">
            <a:normAutofit lnSpcReduction="20000"/>
          </a:bodyPr>
          <a:lstStyle/>
          <a:p>
            <a:pPr marL="0" lvl="0" indent="0" algn="l" rtl="0">
              <a:lnSpc>
                <a:spcPct val="115000"/>
              </a:lnSpc>
              <a:spcBef>
                <a:spcPts val="0"/>
              </a:spcBef>
              <a:spcAft>
                <a:spcPts val="1200"/>
              </a:spcAft>
              <a:buSzPts val="935"/>
              <a:buNone/>
            </a:pPr>
            <a:r>
              <a:rPr lang="en-IN" altLang="en-GB" sz="1700" b="1">
                <a:solidFill>
                  <a:srgbClr val="202729"/>
                </a:solidFill>
                <a:latin typeface="Manrope"/>
                <a:ea typeface="Manrope"/>
                <a:cs typeface="Manrope"/>
                <a:sym typeface="Manrope"/>
              </a:rPr>
              <a:t>LLM Integration</a:t>
            </a:r>
            <a:r>
              <a:rPr lang="en-GB" sz="1700" b="1">
                <a:solidFill>
                  <a:srgbClr val="202729"/>
                </a:solidFill>
                <a:latin typeface="Manrope"/>
                <a:ea typeface="Manrope"/>
                <a:cs typeface="Manrope"/>
                <a:sym typeface="Manrope"/>
              </a:rPr>
              <a:t>:</a:t>
            </a:r>
            <a:endParaRPr lang="en-GB" sz="1700" b="1">
              <a:solidFill>
                <a:srgbClr val="202729"/>
              </a:solidFill>
              <a:latin typeface="Manrope"/>
              <a:ea typeface="Manrope"/>
              <a:cs typeface="Manrope"/>
              <a:sym typeface="Manrope"/>
            </a:endParaRPr>
          </a:p>
          <a:p>
            <a:pPr marL="0" lvl="0" indent="0" algn="l" rtl="0">
              <a:lnSpc>
                <a:spcPct val="115000"/>
              </a:lnSpc>
              <a:spcBef>
                <a:spcPts val="0"/>
              </a:spcBef>
              <a:spcAft>
                <a:spcPts val="1200"/>
              </a:spcAft>
              <a:buSzPts val="935"/>
              <a:buNone/>
            </a:pPr>
            <a:endParaRPr lang="en-US" altLang="en-US" sz="1200">
              <a:solidFill>
                <a:srgbClr val="434343"/>
              </a:solidFill>
              <a:latin typeface="Manrope"/>
              <a:ea typeface="Manrope"/>
              <a:cs typeface="Manrope"/>
              <a:sym typeface="Manrope"/>
            </a:endParaRPr>
          </a:p>
        </p:txBody>
      </p:sp>
      <p:graphicFrame>
        <p:nvGraphicFramePr>
          <p:cNvPr id="2" name="Table 1"/>
          <p:cNvGraphicFramePr/>
          <p:nvPr>
            <p:custDataLst>
              <p:tags r:id="rId2"/>
            </p:custDataLst>
          </p:nvPr>
        </p:nvGraphicFramePr>
        <p:xfrm>
          <a:off x="975995" y="1498600"/>
          <a:ext cx="7311390" cy="3422650"/>
        </p:xfrm>
        <a:graphic>
          <a:graphicData uri="http://schemas.openxmlformats.org/drawingml/2006/table">
            <a:tbl>
              <a:tblPr firstRow="1" bandRow="1">
                <a:tableStyleId>{5C22544A-7EE6-4342-B048-85BDC9FD1C3A}</a:tableStyleId>
              </a:tblPr>
              <a:tblGrid>
                <a:gridCol w="2437130"/>
                <a:gridCol w="2437130"/>
                <a:gridCol w="2437130"/>
              </a:tblGrid>
              <a:tr h="484505">
                <a:tc>
                  <a:txBody>
                    <a:bodyPr/>
                    <a:p>
                      <a:pPr marL="0" indent="0">
                        <a:spcBef>
                          <a:spcPct val="0"/>
                        </a:spcBef>
                        <a:spcAft>
                          <a:spcPct val="0"/>
                        </a:spcAft>
                      </a:pPr>
                      <a:r>
                        <a:rPr lang="en-US" altLang="zh-CN" sz="1200">
                          <a:solidFill>
                            <a:srgbClr val="1F1F1F"/>
                          </a:solidFill>
                          <a:latin typeface="Times New Roman" panose="02020603050405020304" charset="0"/>
                          <a:ea typeface="Google Sans Text"/>
                          <a:cs typeface="Times New Roman" panose="02020603050405020304" charset="0"/>
                        </a:rPr>
                        <a:t>LLM Feature</a:t>
                      </a:r>
                      <a:endParaRPr lang="en-US" altLang="zh-CN" sz="120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a:solidFill>
                            <a:srgbClr val="1F1F1F"/>
                          </a:solidFill>
                          <a:latin typeface="Times New Roman" panose="02020603050405020304" charset="0"/>
                          <a:ea typeface="Google Sans Text"/>
                          <a:cs typeface="Times New Roman" panose="02020603050405020304" charset="0"/>
                        </a:rPr>
                        <a:t>AWS Service / Model</a:t>
                      </a:r>
                      <a:endParaRPr lang="en-US" altLang="zh-CN" sz="120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a:solidFill>
                            <a:srgbClr val="1F1F1F"/>
                          </a:solidFill>
                          <a:latin typeface="Times New Roman" panose="02020603050405020304" charset="0"/>
                          <a:ea typeface="Google Sans Text"/>
                          <a:cs typeface="Times New Roman" panose="02020603050405020304" charset="0"/>
                        </a:rPr>
                        <a:t>Role in HormoneLens</a:t>
                      </a:r>
                      <a:endParaRPr lang="en-US" altLang="zh-CN" sz="120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r>
              <a:tr h="647700">
                <a:tc>
                  <a:txBody>
                    <a:bodyPr/>
                    <a:p>
                      <a:pPr marL="0" indent="0">
                        <a:spcBef>
                          <a:spcPct val="0"/>
                        </a:spcBef>
                        <a:spcAft>
                          <a:spcPct val="0"/>
                        </a:spcAft>
                      </a:pPr>
                      <a:r>
                        <a:rPr lang="en-US" altLang="zh-CN" sz="1200" b="1">
                          <a:solidFill>
                            <a:srgbClr val="1F1F1F"/>
                          </a:solidFill>
                          <a:latin typeface="Times New Roman" panose="02020603050405020304" charset="0"/>
                          <a:ea typeface="Google Sans Text"/>
                          <a:cs typeface="Times New Roman" panose="02020603050405020304" charset="0"/>
                        </a:rPr>
                        <a:t>Foundation Engine</a:t>
                      </a:r>
                      <a:endParaRPr lang="en-US" altLang="zh-CN" sz="1200" b="1">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a:solidFill>
                            <a:srgbClr val="1F1F1F"/>
                          </a:solidFill>
                          <a:latin typeface="Times New Roman" panose="02020603050405020304" charset="0"/>
                          <a:ea typeface="Google Sans Text"/>
                          <a:cs typeface="Times New Roman" panose="02020603050405020304" charset="0"/>
                        </a:rPr>
                        <a:t>Amazon Bedrock </a:t>
                      </a:r>
                      <a:endParaRPr lang="en-US" altLang="zh-CN" sz="120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a:solidFill>
                            <a:srgbClr val="1F1F1F"/>
                          </a:solidFill>
                          <a:latin typeface="Times New Roman" panose="02020603050405020304" charset="0"/>
                          <a:ea typeface="Google Sans Text"/>
                          <a:cs typeface="Times New Roman" panose="02020603050405020304" charset="0"/>
                        </a:rPr>
                        <a:t>Performs complex metabolic reasoning and "What-If" simulations.</a:t>
                      </a:r>
                      <a:endParaRPr lang="en-US" altLang="zh-CN" sz="120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r>
              <a:tr h="821055">
                <a:tc>
                  <a:txBody>
                    <a:bodyPr/>
                    <a:p>
                      <a:pPr marL="0" indent="0">
                        <a:spcBef>
                          <a:spcPct val="0"/>
                        </a:spcBef>
                        <a:spcAft>
                          <a:spcPct val="0"/>
                        </a:spcAft>
                      </a:pPr>
                      <a:r>
                        <a:rPr lang="en-US" altLang="zh-CN" sz="1200" b="1">
                          <a:solidFill>
                            <a:srgbClr val="1F1F1F"/>
                          </a:solidFill>
                          <a:latin typeface="Times New Roman" panose="02020603050405020304" charset="0"/>
                          <a:ea typeface="Google Sans Text"/>
                          <a:cs typeface="Times New Roman" panose="02020603050405020304" charset="0"/>
                        </a:rPr>
                        <a:t>Retrieval (RAG)</a:t>
                      </a:r>
                      <a:endParaRPr lang="en-US" altLang="zh-CN" sz="1200" b="1">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a:solidFill>
                            <a:srgbClr val="1F1F1F"/>
                          </a:solidFill>
                          <a:latin typeface="Times New Roman" panose="02020603050405020304" charset="0"/>
                          <a:ea typeface="Google Sans Text"/>
                          <a:cs typeface="Times New Roman" panose="02020603050405020304" charset="0"/>
                        </a:rPr>
                        <a:t>Amazon Bedrock Knowledge Bases</a:t>
                      </a:r>
                      <a:endParaRPr lang="en-US" altLang="zh-CN" sz="120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a:solidFill>
                            <a:srgbClr val="1F1F1F"/>
                          </a:solidFill>
                          <a:latin typeface="Times New Roman" panose="02020603050405020304" charset="0"/>
                          <a:ea typeface="Google Sans Text"/>
                          <a:cs typeface="Times New Roman" panose="02020603050405020304" charset="0"/>
                        </a:rPr>
                        <a:t>Connects the LLM to </a:t>
                      </a:r>
                      <a:r>
                        <a:rPr lang="en-US" altLang="zh-CN" sz="1200" b="0">
                          <a:solidFill>
                            <a:srgbClr val="1F1F1F"/>
                          </a:solidFill>
                          <a:latin typeface="Times New Roman" panose="02020603050405020304" charset="0"/>
                          <a:ea typeface="Google Sans Text"/>
                          <a:cs typeface="Times New Roman" panose="02020603050405020304" charset="0"/>
                        </a:rPr>
                        <a:t>ChromaDB</a:t>
                      </a:r>
                      <a:r>
                        <a:rPr lang="en-US" altLang="zh-CN" sz="1200">
                          <a:solidFill>
                            <a:srgbClr val="1F1F1F"/>
                          </a:solidFill>
                          <a:latin typeface="Times New Roman" panose="02020603050405020304" charset="0"/>
                          <a:ea typeface="Google Sans Text"/>
                          <a:cs typeface="Times New Roman" panose="02020603050405020304" charset="0"/>
                        </a:rPr>
                        <a:t> for hyper-personalized historical context.</a:t>
                      </a:r>
                      <a:endParaRPr lang="en-US" altLang="zh-CN" sz="120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r>
              <a:tr h="648335">
                <a:tc>
                  <a:txBody>
                    <a:bodyPr/>
                    <a:p>
                      <a:pPr marL="0" indent="0">
                        <a:spcBef>
                          <a:spcPct val="0"/>
                        </a:spcBef>
                        <a:spcAft>
                          <a:spcPct val="0"/>
                        </a:spcAft>
                      </a:pPr>
                      <a:r>
                        <a:rPr lang="en-US" altLang="zh-CN" sz="1200" b="1">
                          <a:solidFill>
                            <a:srgbClr val="1F1F1F"/>
                          </a:solidFill>
                          <a:latin typeface="Times New Roman" panose="02020603050405020304" charset="0"/>
                          <a:ea typeface="Google Sans Text"/>
                          <a:cs typeface="Times New Roman" panose="02020603050405020304" charset="0"/>
                        </a:rPr>
                        <a:t>Safety &amp; Privacy</a:t>
                      </a:r>
                      <a:endParaRPr lang="en-US" altLang="zh-CN" sz="1200" b="1">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a:solidFill>
                            <a:srgbClr val="1F1F1F"/>
                          </a:solidFill>
                          <a:latin typeface="Times New Roman" panose="02020603050405020304" charset="0"/>
                          <a:ea typeface="Google Sans Text"/>
                          <a:cs typeface="Times New Roman" panose="02020603050405020304" charset="0"/>
                        </a:rPr>
                        <a:t>Amazon Bedrock Guardrails</a:t>
                      </a:r>
                      <a:endParaRPr lang="en-US" altLang="zh-CN" sz="120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a:solidFill>
                            <a:srgbClr val="1F1F1F"/>
                          </a:solidFill>
                          <a:latin typeface="Times New Roman" panose="02020603050405020304" charset="0"/>
                          <a:ea typeface="Google Sans Text"/>
                          <a:cs typeface="Times New Roman" panose="02020603050405020304" charset="0"/>
                        </a:rPr>
                        <a:t>Filters responses to ensure responsible, non-diagnostic wellness guidance.</a:t>
                      </a:r>
                      <a:endParaRPr lang="en-US" altLang="zh-CN" sz="120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r>
              <a:tr h="821055">
                <a:tc>
                  <a:txBody>
                    <a:bodyPr/>
                    <a:p>
                      <a:pPr marL="0" indent="0">
                        <a:spcBef>
                          <a:spcPct val="0"/>
                        </a:spcBef>
                        <a:spcAft>
                          <a:spcPct val="0"/>
                        </a:spcAft>
                      </a:pPr>
                      <a:r>
                        <a:rPr lang="en-US" altLang="zh-CN" sz="1200" b="1">
                          <a:solidFill>
                            <a:srgbClr val="1F1F1F"/>
                          </a:solidFill>
                          <a:latin typeface="Times New Roman" panose="02020603050405020304" charset="0"/>
                          <a:ea typeface="Google Sans Text"/>
                          <a:cs typeface="Times New Roman" panose="02020603050405020304" charset="0"/>
                        </a:rPr>
                        <a:t>Response Synthesis</a:t>
                      </a:r>
                      <a:endParaRPr lang="en-US" altLang="zh-CN" sz="1200" b="1">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a:solidFill>
                            <a:srgbClr val="1F1F1F"/>
                          </a:solidFill>
                          <a:latin typeface="Times New Roman" panose="02020603050405020304" charset="0"/>
                          <a:ea typeface="Google Sans Text"/>
                          <a:cs typeface="Times New Roman" panose="02020603050405020304" charset="0"/>
                        </a:rPr>
                        <a:t>Claude 3.5 Sonnet</a:t>
                      </a:r>
                      <a:endParaRPr lang="en-US" altLang="zh-CN" sz="120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c>
                  <a:txBody>
                    <a:bodyPr/>
                    <a:p>
                      <a:pPr marL="0" indent="0">
                        <a:spcBef>
                          <a:spcPct val="0"/>
                        </a:spcBef>
                        <a:spcAft>
                          <a:spcPct val="0"/>
                        </a:spcAft>
                      </a:pPr>
                      <a:r>
                        <a:rPr lang="en-US" altLang="zh-CN" sz="1200">
                          <a:solidFill>
                            <a:srgbClr val="1F1F1F"/>
                          </a:solidFill>
                          <a:latin typeface="Times New Roman" panose="02020603050405020304" charset="0"/>
                          <a:ea typeface="Google Sans Text"/>
                          <a:cs typeface="Times New Roman" panose="02020603050405020304" charset="0"/>
                        </a:rPr>
                        <a:t>Translates complex biological risks into natural language "Preventive Insights".</a:t>
                      </a:r>
                      <a:endParaRPr lang="en-US" altLang="zh-CN" sz="1200">
                        <a:solidFill>
                          <a:srgbClr val="1F1F1F"/>
                        </a:solidFill>
                        <a:latin typeface="Times New Roman" panose="02020603050405020304" charset="0"/>
                        <a:ea typeface="Google Sans Text"/>
                        <a:cs typeface="Times New Roman" panose="02020603050405020304" charset="0"/>
                      </a:endParaRPr>
                    </a:p>
                  </a:txBody>
                  <a:tcPr marL="91757" marR="91757" marT="61277" marB="61277" anchor="ctr" anchorCtr="0"/>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97" name="Shape 97"/>
        <p:cNvGrpSpPr/>
        <p:nvPr/>
      </p:nvGrpSpPr>
      <p:grpSpPr>
        <a:xfrm>
          <a:off x="0" y="0"/>
          <a:ext cx="0" cy="0"/>
          <a:chOff x="0" y="0"/>
          <a:chExt cx="0" cy="0"/>
        </a:xfrm>
      </p:grpSpPr>
      <p:pic>
        <p:nvPicPr>
          <p:cNvPr id="98" name="Google Shape;98;p20"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99" name="Google Shape;99;p20"/>
          <p:cNvSpPr txBox="1"/>
          <p:nvPr/>
        </p:nvSpPr>
        <p:spPr>
          <a:xfrm>
            <a:off x="311785" y="535940"/>
            <a:ext cx="7531735" cy="4013835"/>
          </a:xfrm>
          <a:prstGeom prst="rect">
            <a:avLst/>
          </a:prstGeom>
          <a:noFill/>
          <a:ln>
            <a:noFill/>
          </a:ln>
        </p:spPr>
        <p:txBody>
          <a:bodyPr spcFirstLastPara="1" wrap="square" lIns="91425" tIns="91425" rIns="91425" bIns="91425" anchor="t" anchorCtr="0">
            <a:normAutofit lnSpcReduction="20000"/>
          </a:bodyPr>
          <a:lstStyle/>
          <a:p>
            <a:pPr marL="0" lvl="0" indent="0" algn="l" rtl="0">
              <a:lnSpc>
                <a:spcPct val="115000"/>
              </a:lnSpc>
              <a:spcBef>
                <a:spcPts val="0"/>
              </a:spcBef>
              <a:spcAft>
                <a:spcPts val="1200"/>
              </a:spcAft>
              <a:buSzPts val="935"/>
              <a:buNone/>
            </a:pPr>
            <a:r>
              <a:rPr lang="en-IN" altLang="en-GB" sz="1700" b="1">
                <a:solidFill>
                  <a:srgbClr val="202729"/>
                </a:solidFill>
                <a:latin typeface="Manrope"/>
                <a:ea typeface="Manrope"/>
                <a:cs typeface="Manrope"/>
                <a:sym typeface="Manrope"/>
              </a:rPr>
              <a:t>LLM Integration</a:t>
            </a:r>
            <a:r>
              <a:rPr lang="en-GB" sz="1700" b="1">
                <a:solidFill>
                  <a:srgbClr val="202729"/>
                </a:solidFill>
                <a:latin typeface="Manrope"/>
                <a:ea typeface="Manrope"/>
                <a:cs typeface="Manrope"/>
                <a:sym typeface="Manrope"/>
              </a:rPr>
              <a:t>:</a:t>
            </a:r>
            <a:endParaRPr lang="en-GB" sz="1700" b="1">
              <a:solidFill>
                <a:srgbClr val="202729"/>
              </a:solidFill>
              <a:latin typeface="Manrope"/>
              <a:ea typeface="Manrope"/>
              <a:cs typeface="Manrope"/>
              <a:sym typeface="Manrope"/>
            </a:endParaRPr>
          </a:p>
          <a:p>
            <a:pPr marL="0" lvl="0" indent="0" algn="l" rtl="0">
              <a:lnSpc>
                <a:spcPct val="115000"/>
              </a:lnSpc>
              <a:spcBef>
                <a:spcPts val="0"/>
              </a:spcBef>
              <a:spcAft>
                <a:spcPts val="1200"/>
              </a:spcAft>
              <a:buSzPts val="935"/>
              <a:buNone/>
            </a:pPr>
            <a:endParaRPr lang="en-US" altLang="en-US" sz="1200">
              <a:solidFill>
                <a:srgbClr val="434343"/>
              </a:solidFill>
              <a:latin typeface="Manrope"/>
              <a:ea typeface="Manrope"/>
              <a:cs typeface="Manrope"/>
              <a:sym typeface="Manrope"/>
            </a:endParaRPr>
          </a:p>
        </p:txBody>
      </p:sp>
      <p:pic>
        <p:nvPicPr>
          <p:cNvPr id="1" name="Picture 0" descr="HormoneLens Metabolic Score-2026-02-15-170807"/>
          <p:cNvPicPr>
            <a:picLocks noChangeAspect="1"/>
          </p:cNvPicPr>
          <p:nvPr/>
        </p:nvPicPr>
        <p:blipFill>
          <a:blip r:embed="rId2"/>
          <a:stretch>
            <a:fillRect/>
          </a:stretch>
        </p:blipFill>
        <p:spPr>
          <a:xfrm>
            <a:off x="1205865" y="942975"/>
            <a:ext cx="6563995" cy="397446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03" name="Shape 103"/>
        <p:cNvGrpSpPr/>
        <p:nvPr/>
      </p:nvGrpSpPr>
      <p:grpSpPr>
        <a:xfrm>
          <a:off x="0" y="0"/>
          <a:ext cx="0" cy="0"/>
          <a:chOff x="0" y="0"/>
          <a:chExt cx="0" cy="0"/>
        </a:xfrm>
      </p:grpSpPr>
      <p:pic>
        <p:nvPicPr>
          <p:cNvPr id="104" name="Google Shape;104;p21"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105" name="Google Shape;105;p21"/>
          <p:cNvSpPr txBox="1"/>
          <p:nvPr/>
        </p:nvSpPr>
        <p:spPr>
          <a:xfrm>
            <a:off x="311785" y="398145"/>
            <a:ext cx="7531735" cy="452374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IN" b="1">
                <a:solidFill>
                  <a:schemeClr val="tx1"/>
                </a:solidFill>
                <a:latin typeface="Times New Roman" panose="02020603050405020304" charset="0"/>
                <a:ea typeface="Manrope"/>
                <a:cs typeface="Times New Roman" panose="02020603050405020304" charset="0"/>
                <a:sym typeface="Manrope"/>
              </a:rPr>
              <a:t>Expected Impact:</a:t>
            </a:r>
            <a:endParaRPr lang="en-IN" b="1">
              <a:solidFill>
                <a:schemeClr val="tx1"/>
              </a:solidFill>
              <a:latin typeface="Times New Roman" panose="02020603050405020304" charset="0"/>
              <a:ea typeface="Manrope"/>
              <a:cs typeface="Times New Roman" panose="02020603050405020304" charset="0"/>
              <a:sym typeface="Manrope"/>
            </a:endParaRPr>
          </a:p>
          <a:p>
            <a:pPr marL="171450" lvl="0" indent="-171450" algn="l" rtl="0">
              <a:lnSpc>
                <a:spcPct val="115000"/>
              </a:lnSpc>
              <a:spcBef>
                <a:spcPts val="0"/>
              </a:spcBef>
              <a:spcAft>
                <a:spcPts val="1200"/>
              </a:spcAft>
              <a:buSzPts val="935"/>
              <a:buFont typeface="Arial" panose="020B0604020202020204" pitchFamily="34" charset="0"/>
              <a:buChar char="•"/>
            </a:pPr>
            <a:r>
              <a:rPr lang="en-IN" altLang="en-US" sz="1200" b="1">
                <a:solidFill>
                  <a:schemeClr val="tx1"/>
                </a:solidFill>
                <a:latin typeface="Times New Roman" panose="02020603050405020304" charset="0"/>
                <a:ea typeface="Manrope"/>
                <a:cs typeface="Times New Roman" panose="02020603050405020304" charset="0"/>
                <a:sym typeface="Manrope"/>
              </a:rPr>
              <a:t>S</a:t>
            </a:r>
            <a:r>
              <a:rPr lang="en-US" altLang="en-US" sz="1200" b="1">
                <a:solidFill>
                  <a:schemeClr val="tx1"/>
                </a:solidFill>
                <a:latin typeface="Times New Roman" panose="02020603050405020304" charset="0"/>
                <a:ea typeface="Manrope"/>
                <a:cs typeface="Times New Roman" panose="02020603050405020304" charset="0"/>
                <a:sym typeface="Manrope"/>
              </a:rPr>
              <a:t>hift from Reactive to Proactive</a:t>
            </a:r>
            <a:r>
              <a:rPr lang="en-IN" altLang="en-US" sz="1200">
                <a:solidFill>
                  <a:schemeClr val="tx1"/>
                </a:solidFill>
                <a:latin typeface="Times New Roman" panose="02020603050405020304" charset="0"/>
                <a:ea typeface="Manrope"/>
                <a:cs typeface="Times New Roman" panose="02020603050405020304" charset="0"/>
                <a:sym typeface="Manrope"/>
              </a:rPr>
              <a:t> - </a:t>
            </a:r>
            <a:r>
              <a:rPr lang="en-US" altLang="en-US" sz="1200">
                <a:solidFill>
                  <a:schemeClr val="tx1"/>
                </a:solidFill>
                <a:latin typeface="Times New Roman" panose="02020603050405020304" charset="0"/>
                <a:ea typeface="Manrope"/>
                <a:cs typeface="Times New Roman" panose="02020603050405020304" charset="0"/>
                <a:sym typeface="Manrope"/>
              </a:rPr>
              <a:t>Transforms healthcare from logging sickness (after it happens) to preventing spikes (before they happen), potentially reducing HbA1c levels by 15-20% in early users.</a:t>
            </a:r>
            <a:endParaRPr lang="en-US" altLang="en-US" sz="1200">
              <a:solidFill>
                <a:schemeClr val="tx1"/>
              </a:solidFill>
              <a:latin typeface="Times New Roman" panose="02020603050405020304" charset="0"/>
              <a:ea typeface="Manrope"/>
              <a:cs typeface="Times New Roman" panose="02020603050405020304" charset="0"/>
              <a:sym typeface="Manrope"/>
            </a:endParaRPr>
          </a:p>
          <a:p>
            <a:pPr marL="171450" lvl="0" indent="-171450" algn="l" rtl="0">
              <a:lnSpc>
                <a:spcPct val="115000"/>
              </a:lnSpc>
              <a:spcBef>
                <a:spcPts val="0"/>
              </a:spcBef>
              <a:spcAft>
                <a:spcPts val="1200"/>
              </a:spcAft>
              <a:buSzPts val="935"/>
              <a:buFont typeface="Arial" panose="020B0604020202020204" pitchFamily="34" charset="0"/>
              <a:buChar char="•"/>
            </a:pPr>
            <a:r>
              <a:rPr lang="en-US" altLang="en-US" sz="1200" b="1">
                <a:solidFill>
                  <a:schemeClr val="tx1"/>
                </a:solidFill>
                <a:latin typeface="Times New Roman" panose="02020603050405020304" charset="0"/>
                <a:ea typeface="Manrope"/>
                <a:cs typeface="Times New Roman" panose="02020603050405020304" charset="0"/>
                <a:sym typeface="Manrope"/>
              </a:rPr>
              <a:t>Democratizing Specialized Care</a:t>
            </a:r>
            <a:r>
              <a:rPr lang="en-IN" altLang="en-US" sz="1200" b="1">
                <a:solidFill>
                  <a:schemeClr val="tx1"/>
                </a:solidFill>
                <a:latin typeface="Times New Roman" panose="02020603050405020304" charset="0"/>
                <a:ea typeface="Manrope"/>
                <a:cs typeface="Times New Roman" panose="02020603050405020304" charset="0"/>
                <a:sym typeface="Manrope"/>
              </a:rPr>
              <a:t> </a:t>
            </a:r>
            <a:r>
              <a:rPr lang="en-IN" altLang="en-US" sz="1200">
                <a:solidFill>
                  <a:schemeClr val="tx1"/>
                </a:solidFill>
                <a:latin typeface="Times New Roman" panose="02020603050405020304" charset="0"/>
                <a:ea typeface="Manrope"/>
                <a:cs typeface="Times New Roman" panose="02020603050405020304" charset="0"/>
                <a:sym typeface="Manrope"/>
              </a:rPr>
              <a:t>- </a:t>
            </a:r>
            <a:r>
              <a:rPr lang="en-US" altLang="en-US" sz="1200">
                <a:solidFill>
                  <a:schemeClr val="tx1"/>
                </a:solidFill>
                <a:latin typeface="Times New Roman" panose="02020603050405020304" charset="0"/>
                <a:ea typeface="Manrope"/>
                <a:cs typeface="Times New Roman" panose="02020603050405020304" charset="0"/>
                <a:sym typeface="Manrope"/>
              </a:rPr>
              <a:t>Provides "Endocrinologist-level" logic to millions of Indian women with PCOS who cannot afford frequent doctor visits, directly addressing the AI for Bharat mission.</a:t>
            </a:r>
            <a:endParaRPr lang="en-US" altLang="en-US" sz="1200">
              <a:solidFill>
                <a:schemeClr val="tx1"/>
              </a:solidFill>
              <a:latin typeface="Times New Roman" panose="02020603050405020304" charset="0"/>
              <a:ea typeface="Manrope"/>
              <a:cs typeface="Times New Roman" panose="02020603050405020304" charset="0"/>
              <a:sym typeface="Manrope"/>
            </a:endParaRPr>
          </a:p>
          <a:p>
            <a:pPr marL="171450" lvl="0" indent="-171450" algn="l" rtl="0">
              <a:lnSpc>
                <a:spcPct val="115000"/>
              </a:lnSpc>
              <a:spcBef>
                <a:spcPts val="0"/>
              </a:spcBef>
              <a:spcAft>
                <a:spcPts val="1200"/>
              </a:spcAft>
              <a:buSzPts val="935"/>
              <a:buFont typeface="Arial" panose="020B0604020202020204" pitchFamily="34" charset="0"/>
              <a:buChar char="•"/>
            </a:pPr>
            <a:r>
              <a:rPr lang="en-US" altLang="en-US" sz="1200" b="1">
                <a:solidFill>
                  <a:schemeClr val="tx1"/>
                </a:solidFill>
                <a:latin typeface="Times New Roman" panose="02020603050405020304" charset="0"/>
                <a:ea typeface="Manrope"/>
                <a:cs typeface="Times New Roman" panose="02020603050405020304" charset="0"/>
                <a:sym typeface="Manrope"/>
              </a:rPr>
              <a:t>Behavioral Nudging</a:t>
            </a:r>
            <a:r>
              <a:rPr lang="en-IN" altLang="en-US" sz="1200" b="1">
                <a:solidFill>
                  <a:schemeClr val="tx1"/>
                </a:solidFill>
                <a:latin typeface="Times New Roman" panose="02020603050405020304" charset="0"/>
                <a:ea typeface="Manrope"/>
                <a:cs typeface="Times New Roman" panose="02020603050405020304" charset="0"/>
                <a:sym typeface="Manrope"/>
              </a:rPr>
              <a:t> </a:t>
            </a:r>
            <a:r>
              <a:rPr lang="en-IN" altLang="en-US" sz="1200">
                <a:solidFill>
                  <a:schemeClr val="tx1"/>
                </a:solidFill>
                <a:latin typeface="Times New Roman" panose="02020603050405020304" charset="0"/>
                <a:ea typeface="Manrope"/>
                <a:cs typeface="Times New Roman" panose="02020603050405020304" charset="0"/>
                <a:sym typeface="Manrope"/>
              </a:rPr>
              <a:t>- </a:t>
            </a:r>
            <a:r>
              <a:rPr lang="en-US" altLang="en-US" sz="1200">
                <a:solidFill>
                  <a:schemeClr val="tx1"/>
                </a:solidFill>
                <a:latin typeface="Times New Roman" panose="02020603050405020304" charset="0"/>
                <a:ea typeface="Manrope"/>
                <a:cs typeface="Times New Roman" panose="02020603050405020304" charset="0"/>
                <a:sym typeface="Manrope"/>
              </a:rPr>
              <a:t>Unlike static warnings, our "Simulation" approach empowers users to self-correct lifestyle choices in real-time, improving long-term metabolic literacy.</a:t>
            </a:r>
            <a:endParaRPr lang="en-US" altLang="en-US" sz="1200">
              <a:solidFill>
                <a:schemeClr val="tx1"/>
              </a:solidFill>
              <a:latin typeface="Times New Roman" panose="02020603050405020304" charset="0"/>
              <a:ea typeface="Manrope"/>
              <a:cs typeface="Times New Roman" panose="02020603050405020304" charset="0"/>
              <a:sym typeface="Manrope"/>
            </a:endParaRPr>
          </a:p>
          <a:p>
            <a:pPr marL="171450" lvl="0" indent="-171450" algn="l" rtl="0">
              <a:lnSpc>
                <a:spcPct val="115000"/>
              </a:lnSpc>
              <a:spcBef>
                <a:spcPts val="0"/>
              </a:spcBef>
              <a:spcAft>
                <a:spcPts val="1200"/>
              </a:spcAft>
              <a:buSzPts val="935"/>
              <a:buFont typeface="Arial" panose="020B0604020202020204" pitchFamily="34" charset="0"/>
              <a:buChar char="•"/>
            </a:pPr>
            <a:r>
              <a:rPr lang="en-US" altLang="en-US" sz="1200" b="1">
                <a:solidFill>
                  <a:schemeClr val="tx1"/>
                </a:solidFill>
                <a:latin typeface="Times New Roman" panose="02020603050405020304" charset="0"/>
                <a:ea typeface="Manrope"/>
                <a:cs typeface="Times New Roman" panose="02020603050405020304" charset="0"/>
                <a:sym typeface="Manrope"/>
              </a:rPr>
              <a:t>Safe &amp; Responsible AI</a:t>
            </a:r>
            <a:r>
              <a:rPr lang="en-IN" altLang="en-US" sz="1200">
                <a:solidFill>
                  <a:schemeClr val="tx1"/>
                </a:solidFill>
                <a:latin typeface="Times New Roman" panose="02020603050405020304" charset="0"/>
                <a:ea typeface="Manrope"/>
                <a:cs typeface="Times New Roman" panose="02020603050405020304" charset="0"/>
                <a:sym typeface="Manrope"/>
              </a:rPr>
              <a:t> - </a:t>
            </a:r>
            <a:r>
              <a:rPr lang="en-US" altLang="en-US" sz="1200">
                <a:solidFill>
                  <a:schemeClr val="tx1"/>
                </a:solidFill>
                <a:latin typeface="Times New Roman" panose="02020603050405020304" charset="0"/>
                <a:ea typeface="Manrope"/>
                <a:cs typeface="Times New Roman" panose="02020603050405020304" charset="0"/>
                <a:sym typeface="Manrope"/>
              </a:rPr>
              <a:t>Sets a new standard for health apps by using AWS Guardrails to eliminate medical hallucinations, ensuring trust and safety.</a:t>
            </a:r>
            <a:endParaRPr lang="en-US" altLang="en-US" sz="1200">
              <a:solidFill>
                <a:schemeClr val="tx1"/>
              </a:solidFill>
              <a:latin typeface="Times New Roman" panose="02020603050405020304" charset="0"/>
              <a:ea typeface="Manrope"/>
              <a:cs typeface="Times New Roman" panose="02020603050405020304" charset="0"/>
              <a:sym typeface="Manrope"/>
            </a:endParaRPr>
          </a:p>
          <a:p>
            <a:pPr marL="171450" lvl="0" indent="-171450" algn="l" rtl="0">
              <a:lnSpc>
                <a:spcPct val="115000"/>
              </a:lnSpc>
              <a:spcBef>
                <a:spcPts val="0"/>
              </a:spcBef>
              <a:spcAft>
                <a:spcPts val="1200"/>
              </a:spcAft>
              <a:buSzPts val="935"/>
              <a:buFont typeface="Arial" panose="020B0604020202020204" pitchFamily="34" charset="0"/>
              <a:buChar char="•"/>
            </a:pPr>
            <a:r>
              <a:rPr lang="en-US" altLang="en-US" sz="1200" b="1">
                <a:solidFill>
                  <a:schemeClr val="tx1"/>
                </a:solidFill>
                <a:latin typeface="Times New Roman" panose="02020603050405020304" charset="0"/>
                <a:ea typeface="Manrope"/>
                <a:cs typeface="Times New Roman" panose="02020603050405020304" charset="0"/>
                <a:sym typeface="Manrope"/>
              </a:rPr>
              <a:t>Eliminating "Food Anxiety"</a:t>
            </a:r>
            <a:r>
              <a:rPr lang="en-IN" altLang="en-US" sz="1200">
                <a:solidFill>
                  <a:schemeClr val="tx1"/>
                </a:solidFill>
                <a:latin typeface="Times New Roman" panose="02020603050405020304" charset="0"/>
                <a:ea typeface="Manrope"/>
                <a:cs typeface="Times New Roman" panose="02020603050405020304" charset="0"/>
                <a:sym typeface="Manrope"/>
              </a:rPr>
              <a:t> - </a:t>
            </a:r>
            <a:r>
              <a:rPr lang="en-US" altLang="en-US" sz="1200">
                <a:solidFill>
                  <a:schemeClr val="tx1"/>
                </a:solidFill>
                <a:latin typeface="Times New Roman" panose="02020603050405020304" charset="0"/>
                <a:ea typeface="Manrope"/>
                <a:cs typeface="Times New Roman" panose="02020603050405020304" charset="0"/>
                <a:sym typeface="Manrope"/>
              </a:rPr>
              <a:t>Diagnosed patients often fear every meal. HormoneLens replaces fear with certainty. Instead of worrying "Can I eat this?", the user gets a clear simulation, significantly reducing the mental burden of chronic disease management.</a:t>
            </a:r>
            <a:endParaRPr lang="en-US" altLang="en-US" sz="1200">
              <a:solidFill>
                <a:schemeClr val="tx1"/>
              </a:solidFill>
              <a:latin typeface="Times New Roman" panose="02020603050405020304" charset="0"/>
              <a:ea typeface="Manrope"/>
              <a:cs typeface="Times New Roman" panose="02020603050405020304" charset="0"/>
              <a:sym typeface="Manrop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03" name="Shape 103"/>
        <p:cNvGrpSpPr/>
        <p:nvPr/>
      </p:nvGrpSpPr>
      <p:grpSpPr>
        <a:xfrm>
          <a:off x="0" y="0"/>
          <a:ext cx="0" cy="0"/>
          <a:chOff x="0" y="0"/>
          <a:chExt cx="0" cy="0"/>
        </a:xfrm>
      </p:grpSpPr>
      <p:pic>
        <p:nvPicPr>
          <p:cNvPr id="104" name="Google Shape;104;p21"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105" name="Google Shape;105;p21"/>
          <p:cNvSpPr txBox="1"/>
          <p:nvPr/>
        </p:nvSpPr>
        <p:spPr>
          <a:xfrm>
            <a:off x="311785" y="481330"/>
            <a:ext cx="7531735" cy="44323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IN" b="1">
                <a:solidFill>
                  <a:schemeClr val="tx1"/>
                </a:solidFill>
                <a:latin typeface="Times New Roman" panose="02020603050405020304" charset="0"/>
                <a:ea typeface="Manrope"/>
                <a:cs typeface="Times New Roman" panose="02020603050405020304" charset="0"/>
                <a:sym typeface="Manrope"/>
              </a:rPr>
              <a:t>Expected Impact:</a:t>
            </a:r>
            <a:endParaRPr lang="en-IN" b="1">
              <a:solidFill>
                <a:schemeClr val="tx1"/>
              </a:solidFill>
              <a:latin typeface="Times New Roman" panose="02020603050405020304" charset="0"/>
              <a:ea typeface="Manrope"/>
              <a:cs typeface="Times New Roman" panose="02020603050405020304" charset="0"/>
              <a:sym typeface="Manrope"/>
            </a:endParaRPr>
          </a:p>
          <a:p>
            <a:pPr marL="171450" lvl="0" indent="-171450" algn="l" rtl="0">
              <a:lnSpc>
                <a:spcPct val="115000"/>
              </a:lnSpc>
              <a:spcBef>
                <a:spcPts val="0"/>
              </a:spcBef>
              <a:spcAft>
                <a:spcPts val="1200"/>
              </a:spcAft>
              <a:buSzPts val="935"/>
              <a:buFont typeface="Arial" panose="020B0604020202020204" pitchFamily="34" charset="0"/>
              <a:buChar char="•"/>
            </a:pPr>
            <a:endParaRPr lang="en-US" altLang="en-US" sz="1200">
              <a:solidFill>
                <a:schemeClr val="tx1"/>
              </a:solidFill>
              <a:latin typeface="Times New Roman" panose="02020603050405020304" charset="0"/>
              <a:ea typeface="Manrope"/>
              <a:cs typeface="Times New Roman" panose="02020603050405020304" charset="0"/>
              <a:sym typeface="Manrope"/>
            </a:endParaRPr>
          </a:p>
        </p:txBody>
      </p:sp>
      <p:pic>
        <p:nvPicPr>
          <p:cNvPr id="2" name="Picture 1" descr="HormoneLens Metabolic Score-2026-02-15-161449"/>
          <p:cNvPicPr>
            <a:picLocks noChangeAspect="1"/>
          </p:cNvPicPr>
          <p:nvPr/>
        </p:nvPicPr>
        <p:blipFill>
          <a:blip r:embed="rId2"/>
          <a:stretch>
            <a:fillRect/>
          </a:stretch>
        </p:blipFill>
        <p:spPr>
          <a:xfrm>
            <a:off x="569595" y="1026795"/>
            <a:ext cx="7703820" cy="33578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03" name="Shape 103"/>
        <p:cNvGrpSpPr/>
        <p:nvPr/>
      </p:nvGrpSpPr>
      <p:grpSpPr>
        <a:xfrm>
          <a:off x="0" y="0"/>
          <a:ext cx="0" cy="0"/>
          <a:chOff x="0" y="0"/>
          <a:chExt cx="0" cy="0"/>
        </a:xfrm>
      </p:grpSpPr>
      <p:pic>
        <p:nvPicPr>
          <p:cNvPr id="104" name="Google Shape;104;p21" title="Artboarddfghjk – 6.png"/>
          <p:cNvPicPr preferRelativeResize="0"/>
          <p:nvPr/>
        </p:nvPicPr>
        <p:blipFill rotWithShape="1">
          <a:blip r:embed="rId1"/>
          <a:srcRect/>
          <a:stretch>
            <a:fillRect/>
          </a:stretch>
        </p:blipFill>
        <p:spPr>
          <a:xfrm>
            <a:off x="0" y="0"/>
            <a:ext cx="9144018" cy="5143501"/>
          </a:xfrm>
          <a:prstGeom prst="rect">
            <a:avLst/>
          </a:prstGeom>
          <a:noFill/>
          <a:ln>
            <a:noFill/>
          </a:ln>
        </p:spPr>
      </p:pic>
      <p:sp>
        <p:nvSpPr>
          <p:cNvPr id="105" name="Google Shape;105;p21"/>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IN" b="1">
                <a:solidFill>
                  <a:schemeClr val="tx1"/>
                </a:solidFill>
                <a:latin typeface="Times New Roman" panose="02020603050405020304" charset="0"/>
                <a:ea typeface="Manrope"/>
                <a:cs typeface="Times New Roman" panose="02020603050405020304" charset="0"/>
                <a:sym typeface="Manrope"/>
              </a:rPr>
              <a:t>Future Scope:</a:t>
            </a:r>
            <a:endParaRPr lang="en-IN" b="1">
              <a:solidFill>
                <a:schemeClr val="tx1"/>
              </a:solidFill>
              <a:latin typeface="Times New Roman" panose="02020603050405020304" charset="0"/>
              <a:ea typeface="Manrope"/>
              <a:cs typeface="Times New Roman" panose="02020603050405020304" charset="0"/>
              <a:sym typeface="Manrope"/>
            </a:endParaRPr>
          </a:p>
          <a:p>
            <a:pPr marL="285750" lvl="0" indent="-285750" algn="l" rtl="0">
              <a:lnSpc>
                <a:spcPct val="115000"/>
              </a:lnSpc>
              <a:spcBef>
                <a:spcPts val="0"/>
              </a:spcBef>
              <a:spcAft>
                <a:spcPts val="1200"/>
              </a:spcAft>
              <a:buSzPts val="935"/>
              <a:buFont typeface="Arial" panose="020B0604020202020204" pitchFamily="34" charset="0"/>
              <a:buChar char="•"/>
            </a:pPr>
            <a:r>
              <a:rPr lang="en-US" altLang="en-US" sz="1200">
                <a:solidFill>
                  <a:schemeClr val="tx1"/>
                </a:solidFill>
                <a:latin typeface="Times New Roman" panose="02020603050405020304" charset="0"/>
                <a:ea typeface="Manrope"/>
                <a:cs typeface="Times New Roman" panose="02020603050405020304" charset="0"/>
                <a:sym typeface="Manrope"/>
              </a:rPr>
              <a:t>Integration with wearable health devices</a:t>
            </a:r>
            <a:endParaRPr lang="en-US" altLang="en-US" sz="1200">
              <a:solidFill>
                <a:schemeClr val="tx1"/>
              </a:solidFill>
              <a:latin typeface="Times New Roman" panose="02020603050405020304" charset="0"/>
              <a:ea typeface="Manrope"/>
              <a:cs typeface="Times New Roman" panose="02020603050405020304" charset="0"/>
              <a:sym typeface="Manrope"/>
            </a:endParaRPr>
          </a:p>
          <a:p>
            <a:pPr marL="285750" lvl="0" indent="-285750" algn="l" rtl="0">
              <a:lnSpc>
                <a:spcPct val="115000"/>
              </a:lnSpc>
              <a:spcBef>
                <a:spcPts val="0"/>
              </a:spcBef>
              <a:spcAft>
                <a:spcPts val="1200"/>
              </a:spcAft>
              <a:buSzPts val="935"/>
              <a:buFont typeface="Arial" panose="020B0604020202020204" pitchFamily="34" charset="0"/>
              <a:buChar char="•"/>
            </a:pPr>
            <a:r>
              <a:rPr lang="en-US" altLang="en-US" sz="1200">
                <a:solidFill>
                  <a:schemeClr val="tx1"/>
                </a:solidFill>
                <a:latin typeface="Times New Roman" panose="02020603050405020304" charset="0"/>
                <a:ea typeface="Manrope"/>
                <a:cs typeface="Times New Roman" panose="02020603050405020304" charset="0"/>
                <a:sym typeface="Manrope"/>
              </a:rPr>
              <a:t>Real-time glucose monitoring support</a:t>
            </a:r>
            <a:endParaRPr lang="en-US" altLang="en-US" sz="1200">
              <a:solidFill>
                <a:schemeClr val="tx1"/>
              </a:solidFill>
              <a:latin typeface="Times New Roman" panose="02020603050405020304" charset="0"/>
              <a:ea typeface="Manrope"/>
              <a:cs typeface="Times New Roman" panose="02020603050405020304" charset="0"/>
              <a:sym typeface="Manrope"/>
            </a:endParaRPr>
          </a:p>
          <a:p>
            <a:pPr marL="285750" lvl="0" indent="-285750" algn="l" rtl="0">
              <a:lnSpc>
                <a:spcPct val="115000"/>
              </a:lnSpc>
              <a:spcBef>
                <a:spcPts val="0"/>
              </a:spcBef>
              <a:spcAft>
                <a:spcPts val="1200"/>
              </a:spcAft>
              <a:buSzPts val="935"/>
              <a:buFont typeface="Arial" panose="020B0604020202020204" pitchFamily="34" charset="0"/>
              <a:buChar char="•"/>
            </a:pPr>
            <a:r>
              <a:rPr lang="en-US" altLang="en-US" sz="1200">
                <a:solidFill>
                  <a:schemeClr val="tx1"/>
                </a:solidFill>
                <a:latin typeface="Times New Roman" panose="02020603050405020304" charset="0"/>
                <a:ea typeface="Manrope"/>
                <a:cs typeface="Times New Roman" panose="02020603050405020304" charset="0"/>
                <a:sym typeface="Manrope"/>
              </a:rPr>
              <a:t>Mobile application development</a:t>
            </a:r>
            <a:endParaRPr lang="en-US" altLang="en-US" sz="1200">
              <a:solidFill>
                <a:schemeClr val="tx1"/>
              </a:solidFill>
              <a:latin typeface="Times New Roman" panose="02020603050405020304" charset="0"/>
              <a:ea typeface="Manrope"/>
              <a:cs typeface="Times New Roman" panose="02020603050405020304" charset="0"/>
              <a:sym typeface="Manrope"/>
            </a:endParaRPr>
          </a:p>
          <a:p>
            <a:pPr marL="285750" lvl="0" indent="-285750" algn="l" rtl="0">
              <a:lnSpc>
                <a:spcPct val="115000"/>
              </a:lnSpc>
              <a:spcBef>
                <a:spcPts val="0"/>
              </a:spcBef>
              <a:spcAft>
                <a:spcPts val="1200"/>
              </a:spcAft>
              <a:buSzPts val="935"/>
              <a:buFont typeface="Arial" panose="020B0604020202020204" pitchFamily="34" charset="0"/>
              <a:buChar char="•"/>
            </a:pPr>
            <a:r>
              <a:rPr lang="en-US" altLang="en-US" sz="1200">
                <a:solidFill>
                  <a:schemeClr val="tx1"/>
                </a:solidFill>
                <a:latin typeface="Times New Roman" panose="02020603050405020304" charset="0"/>
                <a:ea typeface="Manrope"/>
                <a:cs typeface="Times New Roman" panose="02020603050405020304" charset="0"/>
                <a:sym typeface="Manrope"/>
              </a:rPr>
              <a:t>Clinical dataset integration</a:t>
            </a:r>
            <a:endParaRPr lang="en-US" altLang="en-US" sz="1200">
              <a:solidFill>
                <a:schemeClr val="tx1"/>
              </a:solidFill>
              <a:latin typeface="Times New Roman" panose="02020603050405020304" charset="0"/>
              <a:ea typeface="Manrope"/>
              <a:cs typeface="Times New Roman" panose="02020603050405020304" charset="0"/>
              <a:sym typeface="Manrope"/>
            </a:endParaRPr>
          </a:p>
          <a:p>
            <a:pPr marL="285750" lvl="0" indent="-285750" algn="l" rtl="0">
              <a:lnSpc>
                <a:spcPct val="115000"/>
              </a:lnSpc>
              <a:spcBef>
                <a:spcPts val="0"/>
              </a:spcBef>
              <a:spcAft>
                <a:spcPts val="1200"/>
              </a:spcAft>
              <a:buSzPts val="935"/>
              <a:buFont typeface="Arial" panose="020B0604020202020204" pitchFamily="34" charset="0"/>
              <a:buChar char="•"/>
            </a:pPr>
            <a:r>
              <a:rPr lang="en-US" altLang="en-US" sz="1200">
                <a:solidFill>
                  <a:schemeClr val="tx1"/>
                </a:solidFill>
                <a:latin typeface="Times New Roman" panose="02020603050405020304" charset="0"/>
                <a:ea typeface="Manrope"/>
                <a:cs typeface="Times New Roman" panose="02020603050405020304" charset="0"/>
                <a:sym typeface="Manrope"/>
              </a:rPr>
              <a:t>AI-based doctor recommendation system</a:t>
            </a:r>
            <a:endParaRPr lang="en-US" altLang="en-US" sz="1200">
              <a:solidFill>
                <a:schemeClr val="tx1"/>
              </a:solidFill>
              <a:latin typeface="Times New Roman" panose="02020603050405020304" charset="0"/>
              <a:ea typeface="Manrope"/>
              <a:cs typeface="Times New Roman" panose="02020603050405020304" charset="0"/>
              <a:sym typeface="Manrope"/>
            </a:endParaRPr>
          </a:p>
          <a:p>
            <a:pPr marL="285750" lvl="0" indent="-285750" algn="l" rtl="0">
              <a:lnSpc>
                <a:spcPct val="115000"/>
              </a:lnSpc>
              <a:spcBef>
                <a:spcPts val="0"/>
              </a:spcBef>
              <a:spcAft>
                <a:spcPts val="1200"/>
              </a:spcAft>
              <a:buSzPts val="935"/>
              <a:buFont typeface="Arial" panose="020B0604020202020204" pitchFamily="34" charset="0"/>
              <a:buChar char="•"/>
            </a:pPr>
            <a:r>
              <a:rPr lang="en-US" altLang="en-US" sz="1200">
                <a:solidFill>
                  <a:schemeClr val="tx1"/>
                </a:solidFill>
                <a:latin typeface="Times New Roman" panose="02020603050405020304" charset="0"/>
                <a:ea typeface="Manrope"/>
                <a:cs typeface="Times New Roman" panose="02020603050405020304" charset="0"/>
                <a:sym typeface="Manrope"/>
              </a:rPr>
              <a:t>Expansion to additional metabolic disorders</a:t>
            </a:r>
            <a:endParaRPr lang="en-US" altLang="en-US" sz="1200">
              <a:solidFill>
                <a:schemeClr val="tx1"/>
              </a:solidFill>
              <a:latin typeface="Times New Roman" panose="02020603050405020304" charset="0"/>
              <a:ea typeface="Manrope"/>
              <a:cs typeface="Times New Roman" panose="02020603050405020304" charset="0"/>
              <a:sym typeface="Manrope"/>
            </a:endParaRPr>
          </a:p>
        </p:txBody>
      </p:sp>
      <p:pic>
        <p:nvPicPr>
          <p:cNvPr id="5" name="Picture 4" descr="future"/>
          <p:cNvPicPr>
            <a:picLocks noChangeAspect="1"/>
          </p:cNvPicPr>
          <p:nvPr/>
        </p:nvPicPr>
        <p:blipFill>
          <a:blip r:embed="rId2"/>
          <a:stretch>
            <a:fillRect/>
          </a:stretch>
        </p:blipFill>
        <p:spPr>
          <a:xfrm>
            <a:off x="3566160" y="683260"/>
            <a:ext cx="5361305" cy="37363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15" name="Shape 115"/>
        <p:cNvGrpSpPr/>
        <p:nvPr/>
      </p:nvGrpSpPr>
      <p:grpSpPr>
        <a:xfrm>
          <a:off x="0" y="0"/>
          <a:ext cx="0" cy="0"/>
          <a:chOff x="0" y="0"/>
          <a:chExt cx="0" cy="0"/>
        </a:xfrm>
      </p:grpSpPr>
      <p:pic>
        <p:nvPicPr>
          <p:cNvPr id="116" name="Google Shape;116;p23" title="AI for Bharddat BANNER – 5.png"/>
          <p:cNvPicPr preferRelativeResize="0"/>
          <p:nvPr/>
        </p:nvPicPr>
        <p:blipFill rotWithShape="1">
          <a:blip r:embed="rId1"/>
          <a:srcRect/>
          <a:stretch>
            <a:fillRect/>
          </a:stretch>
        </p:blipFill>
        <p:spPr>
          <a:xfrm>
            <a:off x="0" y="0"/>
            <a:ext cx="9144018" cy="5143501"/>
          </a:xfrm>
          <a:prstGeom prst="rect">
            <a:avLst/>
          </a:prstGeom>
          <a:noFill/>
          <a:ln>
            <a:noFill/>
          </a:ln>
        </p:spPr>
      </p:pic>
    </p:spTree>
  </p:cSld>
  <p:clrMapOvr>
    <a:masterClrMapping/>
  </p:clrMapOvr>
</p:sld>
</file>

<file path=ppt/tags/tag1.xml><?xml version="1.0" encoding="utf-8"?>
<p:tagLst xmlns:p="http://schemas.openxmlformats.org/presentationml/2006/main">
  <p:tag name="TABLE_ENDDRAG_ORIGIN_RECT" val="503*164"/>
  <p:tag name="TABLE_ENDDRAG_RECT" val="102*207*503*164"/>
</p:tagLst>
</file>

<file path=ppt/tags/tag2.xml><?xml version="1.0" encoding="utf-8"?>
<p:tagLst xmlns:p="http://schemas.openxmlformats.org/presentationml/2006/main">
  <p:tag name="TABLE_ENDDRAG_ORIGIN_RECT" val="529*230"/>
  <p:tag name="TABLE_ENDDRAG_RECT" val="84*131*529*230"/>
</p:tagLst>
</file>

<file path=ppt/tags/tag3.xml><?xml version="1.0" encoding="utf-8"?>
<p:tagLst xmlns:p="http://schemas.openxmlformats.org/presentationml/2006/main">
  <p:tag name="TABLE_ENDDRAG_ORIGIN_RECT" val="542*299"/>
  <p:tag name="TABLE_ENDDRAG_RECT" val="82*90*542*299"/>
</p:tagLst>
</file>

<file path=ppt/tags/tag4.xml><?xml version="1.0" encoding="utf-8"?>
<p:tagLst xmlns:p="http://schemas.openxmlformats.org/presentationml/2006/main">
  <p:tag name="TABLE_ENDDRAG_ORIGIN_RECT" val="575*269"/>
  <p:tag name="TABLE_ENDDRAG_RECT" val="76*118*575*269"/>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8499</Words>
  <Application>WPS Presentation</Application>
  <PresentationFormat/>
  <Paragraphs>256</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SimSun</vt:lpstr>
      <vt:lpstr>Wingdings</vt:lpstr>
      <vt:lpstr>Arial</vt:lpstr>
      <vt:lpstr>Times New Roman</vt:lpstr>
      <vt:lpstr>Manrope SemiBold</vt:lpstr>
      <vt:lpstr>Manrope</vt:lpstr>
      <vt:lpstr>Microsoft YaHei</vt:lpstr>
      <vt:lpstr>Arial Unicode MS</vt:lpstr>
      <vt:lpstr>Google Sans Text</vt:lpstr>
      <vt:lpstr>Segoe Print</vt:lpstr>
      <vt:lpstr>Simple Light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jinia chhabra</cp:lastModifiedBy>
  <cp:revision>4</cp:revision>
  <dcterms:created xsi:type="dcterms:W3CDTF">2026-02-14T19:29:00Z</dcterms:created>
  <dcterms:modified xsi:type="dcterms:W3CDTF">2026-02-15T17:09:26Z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1888CC8CCE484ECC8E9280BC3DB9638C_13</vt:lpwstr>
  </property>
  <property fmtid="{D5CDD505-2E9C-101B-9397-08002B2CF9AE}" pid="3" name="KSOProductBuildVer">
    <vt:lpwstr>1033-12.2.0.23196</vt:lpwstr>
  </property>
</Properties>
</file>